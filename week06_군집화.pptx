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TDTD순고딕" charset="1" panose="02000603000000000000"/>
      <p:regular r:id="rId35"/>
    </p:embeddedFont>
    <p:embeddedFont>
      <p:font typeface="210 도시락" charset="1" panose="02020603020101020101"/>
      <p:regular r:id="rId36"/>
    </p:embeddedFont>
    <p:embeddedFont>
      <p:font typeface="Arita Buri Bold Italics" charset="1" panose="02000803000000000000"/>
      <p:regular r:id="rId37"/>
    </p:embeddedFont>
    <p:embeddedFont>
      <p:font typeface="TDTD순고딕 Bold" charset="1" panose="02000803000000000000"/>
      <p:regular r:id="rId38"/>
    </p:embeddedFont>
    <p:embeddedFont>
      <p:font typeface="210 토스트 Bold" charset="1" panose="02020503020101020101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55531" y="9258300"/>
            <a:ext cx="4176938" cy="517708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757169" cy="503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087454" y="3611757"/>
            <a:ext cx="8113093" cy="96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6"/>
              </a:lnSpc>
            </a:pPr>
            <a:r>
              <a:rPr lang="en-US" sz="5618" spc="-117">
                <a:solidFill>
                  <a:srgbClr val="76A7E4"/>
                </a:solidFill>
                <a:latin typeface="210 도시락"/>
                <a:ea typeface="210 도시락"/>
                <a:cs typeface="210 도시락"/>
                <a:sym typeface="210 도시락"/>
              </a:rPr>
              <a:t>KUGGLE SESSION #7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93263" y="4556773"/>
            <a:ext cx="9501474" cy="205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6"/>
              </a:lnSpc>
            </a:pPr>
            <a:r>
              <a:rPr lang="en-US" sz="12011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5436" y="6761519"/>
            <a:ext cx="5797128" cy="39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5"/>
              </a:lnSpc>
            </a:pPr>
            <a:r>
              <a:rPr lang="en-US" sz="2261" spc="-47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KUGGLE 13기 손유성 이유정</a:t>
            </a:r>
          </a:p>
        </p:txBody>
      </p:sp>
      <p:sp>
        <p:nvSpPr>
          <p:cNvPr name="AutoShape 18" id="18"/>
          <p:cNvSpPr/>
          <p:nvPr/>
        </p:nvSpPr>
        <p:spPr>
          <a:xfrm>
            <a:off x="5087454" y="6613882"/>
            <a:ext cx="8113093" cy="0"/>
          </a:xfrm>
          <a:prstGeom prst="line">
            <a:avLst/>
          </a:prstGeom>
          <a:ln cap="flat" w="19050">
            <a:solidFill>
              <a:srgbClr val="A2A2A2"/>
            </a:solidFill>
            <a:prstDash val="sys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7055531" y="9261832"/>
            <a:ext cx="4176938" cy="517708"/>
            <a:chOff x="0" y="0"/>
            <a:chExt cx="3757169" cy="465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757169" cy="503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68874" y="1643710"/>
            <a:ext cx="4350253" cy="95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목차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74003" y="4109668"/>
            <a:ext cx="687885" cy="5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5"/>
              </a:lnSpc>
            </a:pPr>
            <a:r>
              <a:rPr lang="en-US" b="true" sz="2968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54541" y="5757739"/>
            <a:ext cx="687885" cy="5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5"/>
              </a:lnSpc>
            </a:pPr>
            <a:r>
              <a:rPr lang="en-US" b="true" sz="2968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60548" y="4128718"/>
            <a:ext cx="3979732" cy="47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군집화란? - 군집화의 정의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74003" y="5796047"/>
            <a:ext cx="687885" cy="5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5"/>
              </a:lnSpc>
            </a:pPr>
            <a:r>
              <a:rPr lang="en-US" b="true" sz="2968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54541" y="7133192"/>
            <a:ext cx="687885" cy="5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5"/>
              </a:lnSpc>
            </a:pPr>
            <a:r>
              <a:rPr lang="en-US" b="true" sz="2968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60548" y="7188581"/>
            <a:ext cx="4361029" cy="47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군집화 알고리즘 - K-means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74003" y="7133192"/>
            <a:ext cx="687885" cy="5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5"/>
              </a:lnSpc>
            </a:pPr>
            <a:r>
              <a:rPr lang="en-US" b="true" sz="2968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60548" y="5815097"/>
            <a:ext cx="4822396" cy="47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군집화의 핵심 원리 - 거리 측정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54541" y="4109668"/>
            <a:ext cx="687885" cy="5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5"/>
              </a:lnSpc>
            </a:pPr>
            <a:r>
              <a:rPr lang="en-US" b="true" sz="2968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64744" y="5795943"/>
            <a:ext cx="3531026" cy="47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 평가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88028" y="4128718"/>
            <a:ext cx="4325969" cy="47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기타 알고리즘 - 계층적 군집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48458" y="7190549"/>
            <a:ext cx="2899085" cy="47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마무리 및 참고 문헌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60548" y="4755873"/>
            <a:ext cx="3979732" cy="47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               - 군집화 vs 분류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70136" y="6440351"/>
            <a:ext cx="3512808" cy="47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               - 전처리 과정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19126" y="4755873"/>
            <a:ext cx="3276647" cy="47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3"/>
              </a:lnSpc>
            </a:pPr>
            <a:r>
              <a:rPr lang="en-US" sz="2681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               - DBSCAN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28700" y="818539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991950" y="2636031"/>
            <a:ext cx="7100296" cy="6356958"/>
          </a:xfrm>
          <a:custGeom>
            <a:avLst/>
            <a:gdLst/>
            <a:ahLst/>
            <a:cxnLst/>
            <a:rect r="r" b="b" t="t" l="l"/>
            <a:pathLst>
              <a:path h="6356958" w="7100296">
                <a:moveTo>
                  <a:pt x="0" y="0"/>
                </a:moveTo>
                <a:lnTo>
                  <a:pt x="7100296" y="0"/>
                </a:lnTo>
                <a:lnTo>
                  <a:pt x="710029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46" r="0" b="-584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91950" y="1312288"/>
            <a:ext cx="10769394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군집화란? - 군집화의 정의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3954" y="1389758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39858" y="3135561"/>
            <a:ext cx="6674865" cy="127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026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“유사한 특성을 가진 데이터를 </a:t>
            </a:r>
          </a:p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026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하나의 집단으로 묶는 방법”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9858" y="4774140"/>
            <a:ext cx="667486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군집화란 각 개체에 대해 관측된 여러 개의 변수값들로부터 n개의 개체를 유사한 성격을 가지는 몇개의 군집으로 집단화하는 기법으로 이렇게 형성된 군집들의 특성을 파악하고 군집 사이의 관계를 분석하는 다변량 분석 기법입니다.</a:t>
            </a:r>
          </a:p>
          <a:p>
            <a:pPr algn="l">
              <a:lnSpc>
                <a:spcPts val="35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비지도학습의 한 종류이며, 정답없이 데이터의 유사성을 기준으로 비슷한 개체끼리 묶어 구조를 파악하는 데 사용합니다.</a:t>
            </a:r>
          </a:p>
        </p:txBody>
      </p:sp>
      <p:grpSp>
        <p:nvGrpSpPr>
          <p:cNvPr name="Group 20" id="20"/>
          <p:cNvGrpSpPr/>
          <p:nvPr/>
        </p:nvGrpSpPr>
        <p:grpSpPr>
          <a:xfrm rot="-5400000">
            <a:off x="12511501" y="4983656"/>
            <a:ext cx="1331580" cy="6674865"/>
            <a:chOff x="0" y="0"/>
            <a:chExt cx="147242" cy="7380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7242" cy="738084"/>
            </a:xfrm>
            <a:custGeom>
              <a:avLst/>
              <a:gdLst/>
              <a:ahLst/>
              <a:cxnLst/>
              <a:rect r="r" b="b" t="t" l="l"/>
              <a:pathLst>
                <a:path h="738084" w="147242">
                  <a:moveTo>
                    <a:pt x="73621" y="0"/>
                  </a:moveTo>
                  <a:lnTo>
                    <a:pt x="73621" y="0"/>
                  </a:lnTo>
                  <a:cubicBezTo>
                    <a:pt x="114280" y="0"/>
                    <a:pt x="147242" y="32961"/>
                    <a:pt x="147242" y="73621"/>
                  </a:cubicBezTo>
                  <a:lnTo>
                    <a:pt x="147242" y="664463"/>
                  </a:lnTo>
                  <a:cubicBezTo>
                    <a:pt x="147242" y="705123"/>
                    <a:pt x="114280" y="738084"/>
                    <a:pt x="73621" y="738084"/>
                  </a:cubicBezTo>
                  <a:lnTo>
                    <a:pt x="73621" y="738084"/>
                  </a:lnTo>
                  <a:cubicBezTo>
                    <a:pt x="32961" y="738084"/>
                    <a:pt x="0" y="705123"/>
                    <a:pt x="0" y="664463"/>
                  </a:cubicBezTo>
                  <a:lnTo>
                    <a:pt x="0" y="73621"/>
                  </a:lnTo>
                  <a:cubicBezTo>
                    <a:pt x="0" y="32961"/>
                    <a:pt x="32961" y="0"/>
                    <a:pt x="73621" y="0"/>
                  </a:cubicBezTo>
                  <a:close/>
                </a:path>
              </a:pathLst>
            </a:custGeom>
            <a:ln w="38100" cap="rnd">
              <a:solidFill>
                <a:srgbClr val="000000">
                  <a:alpha val="9804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47242" cy="785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53140" y="7910878"/>
            <a:ext cx="5848302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정답이 없는 데이터 내에 숨어 있는 별도의 군집을 찾아 새로운 의미 부여를 목표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28700" y="818539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3307733" y="3674084"/>
          <a:ext cx="11672533" cy="4162425"/>
        </p:xfrm>
        <a:graphic>
          <a:graphicData uri="http://schemas.openxmlformats.org/drawingml/2006/table">
            <a:tbl>
              <a:tblPr/>
              <a:tblGrid>
                <a:gridCol w="2404652"/>
                <a:gridCol w="4514931"/>
                <a:gridCol w="4752950"/>
              </a:tblGrid>
              <a:tr h="8555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0"/>
                        </a:lnSpc>
                        <a:defRPr/>
                      </a:pPr>
                      <a:r>
                        <a:rPr lang="en-US" sz="2479" b="true">
                          <a:solidFill>
                            <a:srgbClr val="000000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특징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10"/>
                        </a:lnSpc>
                        <a:defRPr/>
                      </a:pPr>
                      <a:r>
                        <a:rPr lang="en-US" sz="2579" b="true">
                          <a:solidFill>
                            <a:srgbClr val="000000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분류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10"/>
                        </a:lnSpc>
                        <a:defRPr/>
                      </a:pPr>
                      <a:r>
                        <a:rPr lang="en-US" sz="2579" b="true">
                          <a:solidFill>
                            <a:srgbClr val="000000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군집화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</a:tr>
              <a:tr h="10285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10"/>
                        </a:lnSpc>
                        <a:defRPr/>
                      </a:pPr>
                      <a:r>
                        <a:rPr lang="en-US" sz="2579" b="true">
                          <a:solidFill>
                            <a:srgbClr val="000000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학습 방식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30"/>
                        </a:lnSpc>
                        <a:defRPr/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지도학습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30"/>
                        </a:lnSpc>
                        <a:defRPr/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비지도학습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10285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10"/>
                        </a:lnSpc>
                        <a:defRPr/>
                      </a:pPr>
                      <a:r>
                        <a:rPr lang="en-US" sz="2579" b="true">
                          <a:solidFill>
                            <a:srgbClr val="000000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데이터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30"/>
                        </a:lnSpc>
                        <a:defRPr/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정답 레이블이 있음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30"/>
                        </a:lnSpc>
                        <a:defRPr/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정답 레이블이 없음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12496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10"/>
                        </a:lnSpc>
                        <a:defRPr/>
                      </a:pPr>
                      <a:r>
                        <a:rPr lang="en-US" sz="2579" b="true">
                          <a:solidFill>
                            <a:srgbClr val="000000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주요 목표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30"/>
                        </a:lnSpc>
                        <a:defRPr/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기존 데이터로 학습하여</a:t>
                      </a:r>
                      <a:endParaRPr lang="en-US" sz="1100"/>
                    </a:p>
                    <a:p>
                      <a:pPr algn="ctr">
                        <a:lnSpc>
                          <a:spcPts val="3330"/>
                        </a:lnSpc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새로운 데이터를 레이블로 예측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30"/>
                        </a:lnSpc>
                        <a:defRPr/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데이터 내  </a:t>
                      </a: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유사한 데이터끼리 </a:t>
                      </a:r>
                      <a:endParaRPr lang="en-US" sz="1100"/>
                    </a:p>
                    <a:p>
                      <a:pPr algn="ctr">
                        <a:lnSpc>
                          <a:spcPts val="3330"/>
                        </a:lnSpc>
                      </a:pPr>
                      <a:r>
                        <a:rPr lang="en-US" sz="2379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묶어 구조 탐색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2456294" y="1365311"/>
            <a:ext cx="10769394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군집화란? - 군집화 VS 분류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3954" y="1389758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75188" y="798634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0311250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거리 측정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14697" y="6121353"/>
            <a:ext cx="9397513" cy="12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4"/>
              </a:lnSpc>
            </a:pPr>
            <a:r>
              <a:rPr lang="en-US" sz="2899" u="sng" b="true">
                <a:solidFill>
                  <a:srgbClr val="026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가까운 데이터</a:t>
            </a:r>
            <a:r>
              <a:rPr lang="en-US" sz="2899" b="true">
                <a:solidFill>
                  <a:srgbClr val="026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는 같은 군집, </a:t>
            </a:r>
            <a:r>
              <a:rPr lang="en-US" sz="2899" u="sng" b="true">
                <a:solidFill>
                  <a:srgbClr val="026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먼 데이터</a:t>
            </a:r>
            <a:r>
              <a:rPr lang="en-US" sz="2899" b="true">
                <a:solidFill>
                  <a:srgbClr val="026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는 다른 군집</a:t>
            </a: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으로 분류</a:t>
            </a:r>
          </a:p>
          <a:p>
            <a:pPr algn="l">
              <a:lnSpc>
                <a:spcPts val="5074"/>
              </a:lnSpc>
            </a:pP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거리 측정 방식에 따라 군집화 결과도 달라질 수 있음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214697" y="3872634"/>
            <a:ext cx="2735036" cy="840122"/>
            <a:chOff x="0" y="0"/>
            <a:chExt cx="3646715" cy="112016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150978" cy="1120162"/>
              <a:chOff x="0" y="0"/>
              <a:chExt cx="331941" cy="17286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31941" cy="172865"/>
              </a:xfrm>
              <a:custGeom>
                <a:avLst/>
                <a:gdLst/>
                <a:ahLst/>
                <a:cxnLst/>
                <a:rect r="r" b="b" t="t" l="l"/>
                <a:pathLst>
                  <a:path h="172865" w="331941">
                    <a:moveTo>
                      <a:pt x="86432" y="0"/>
                    </a:moveTo>
                    <a:lnTo>
                      <a:pt x="245509" y="0"/>
                    </a:lnTo>
                    <a:cubicBezTo>
                      <a:pt x="268432" y="0"/>
                      <a:pt x="290416" y="9106"/>
                      <a:pt x="306626" y="25315"/>
                    </a:cubicBezTo>
                    <a:cubicBezTo>
                      <a:pt x="322835" y="41525"/>
                      <a:pt x="331941" y="63509"/>
                      <a:pt x="331941" y="86432"/>
                    </a:cubicBezTo>
                    <a:lnTo>
                      <a:pt x="331941" y="86432"/>
                    </a:lnTo>
                    <a:cubicBezTo>
                      <a:pt x="331941" y="134168"/>
                      <a:pt x="293244" y="172865"/>
                      <a:pt x="245509" y="172865"/>
                    </a:cubicBezTo>
                    <a:lnTo>
                      <a:pt x="86432" y="172865"/>
                    </a:lnTo>
                    <a:cubicBezTo>
                      <a:pt x="38697" y="172865"/>
                      <a:pt x="0" y="134168"/>
                      <a:pt x="0" y="86432"/>
                    </a:cubicBezTo>
                    <a:lnTo>
                      <a:pt x="0" y="86432"/>
                    </a:lnTo>
                    <a:cubicBezTo>
                      <a:pt x="0" y="38697"/>
                      <a:pt x="38697" y="0"/>
                      <a:pt x="86432" y="0"/>
                    </a:cubicBezTo>
                    <a:close/>
                  </a:path>
                </a:pathLst>
              </a:custGeom>
              <a:solidFill>
                <a:srgbClr val="FFFA8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331941" cy="2204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61182"/>
              <a:ext cx="3646715" cy="912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  <a:spcBef>
                  <a:spcPct val="0"/>
                </a:spcBef>
              </a:pPr>
              <a:r>
                <a:rPr lang="en-US" b="true" sz="4099">
                  <a:solidFill>
                    <a:srgbClr val="FF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유사성</a:t>
              </a:r>
              <a:r>
                <a:rPr lang="en-US" b="true" sz="4099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 판단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897094" y="3767859"/>
            <a:ext cx="2704320" cy="90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9"/>
              </a:lnSpc>
              <a:spcBef>
                <a:spcPct val="0"/>
              </a:spcBef>
            </a:pP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WHY</a:t>
            </a: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97094" y="6316481"/>
            <a:ext cx="2704320" cy="90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9"/>
              </a:lnSpc>
              <a:spcBef>
                <a:spcPct val="0"/>
              </a:spcBef>
            </a:pP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HOW</a:t>
            </a: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14697" y="4907280"/>
            <a:ext cx="5070967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→ 데이터 간 얼마나 비슷한지 수치화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41549" y="3892027"/>
            <a:ext cx="4224124" cy="4717270"/>
            <a:chOff x="0" y="0"/>
            <a:chExt cx="1301500" cy="14534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1500" cy="1453444"/>
            </a:xfrm>
            <a:custGeom>
              <a:avLst/>
              <a:gdLst/>
              <a:ahLst/>
              <a:cxnLst/>
              <a:rect r="r" b="b" t="t" l="l"/>
              <a:pathLst>
                <a:path h="1453444" w="1301500">
                  <a:moveTo>
                    <a:pt x="0" y="0"/>
                  </a:moveTo>
                  <a:lnTo>
                    <a:pt x="1301500" y="0"/>
                  </a:lnTo>
                  <a:lnTo>
                    <a:pt x="1301500" y="1453444"/>
                  </a:lnTo>
                  <a:lnTo>
                    <a:pt x="0" y="1453444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301500" cy="1539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3959783" y="1395451"/>
            <a:ext cx="787655" cy="4224124"/>
            <a:chOff x="0" y="0"/>
            <a:chExt cx="605891" cy="32493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5891" cy="3249338"/>
            </a:xfrm>
            <a:custGeom>
              <a:avLst/>
              <a:gdLst/>
              <a:ahLst/>
              <a:cxnLst/>
              <a:rect r="r" b="b" t="t" l="l"/>
              <a:pathLst>
                <a:path h="3249338" w="605891">
                  <a:moveTo>
                    <a:pt x="0" y="0"/>
                  </a:moveTo>
                  <a:lnTo>
                    <a:pt x="605891" y="0"/>
                  </a:lnTo>
                  <a:lnTo>
                    <a:pt x="605891" y="3249338"/>
                  </a:lnTo>
                  <a:lnTo>
                    <a:pt x="0" y="3249338"/>
                  </a:lnTo>
                  <a:close/>
                </a:path>
              </a:pathLst>
            </a:custGeom>
            <a:solidFill>
              <a:srgbClr val="F2F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605891" cy="333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32281" y="3892027"/>
            <a:ext cx="4224124" cy="4717270"/>
            <a:chOff x="0" y="0"/>
            <a:chExt cx="1301500" cy="14534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1500" cy="1453444"/>
            </a:xfrm>
            <a:custGeom>
              <a:avLst/>
              <a:gdLst/>
              <a:ahLst/>
              <a:cxnLst/>
              <a:rect r="r" b="b" t="t" l="l"/>
              <a:pathLst>
                <a:path h="1453444" w="1301500">
                  <a:moveTo>
                    <a:pt x="0" y="0"/>
                  </a:moveTo>
                  <a:lnTo>
                    <a:pt x="1301500" y="0"/>
                  </a:lnTo>
                  <a:lnTo>
                    <a:pt x="1301500" y="1453444"/>
                  </a:lnTo>
                  <a:lnTo>
                    <a:pt x="0" y="1453444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1301500" cy="1539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5400000">
            <a:off x="8742685" y="1395451"/>
            <a:ext cx="787655" cy="4224124"/>
            <a:chOff x="0" y="0"/>
            <a:chExt cx="605891" cy="32493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5891" cy="3249338"/>
            </a:xfrm>
            <a:custGeom>
              <a:avLst/>
              <a:gdLst/>
              <a:ahLst/>
              <a:cxnLst/>
              <a:rect r="r" b="b" t="t" l="l"/>
              <a:pathLst>
                <a:path h="3249338" w="605891">
                  <a:moveTo>
                    <a:pt x="0" y="0"/>
                  </a:moveTo>
                  <a:lnTo>
                    <a:pt x="605891" y="0"/>
                  </a:lnTo>
                  <a:lnTo>
                    <a:pt x="605891" y="3249338"/>
                  </a:lnTo>
                  <a:lnTo>
                    <a:pt x="0" y="3249338"/>
                  </a:lnTo>
                  <a:close/>
                </a:path>
              </a:pathLst>
            </a:custGeom>
            <a:solidFill>
              <a:srgbClr val="F2F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605891" cy="333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23012" y="3910560"/>
            <a:ext cx="4224124" cy="4698737"/>
            <a:chOff x="0" y="0"/>
            <a:chExt cx="1301500" cy="14477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01500" cy="1447734"/>
            </a:xfrm>
            <a:custGeom>
              <a:avLst/>
              <a:gdLst/>
              <a:ahLst/>
              <a:cxnLst/>
              <a:rect r="r" b="b" t="t" l="l"/>
              <a:pathLst>
                <a:path h="1447734" w="1301500">
                  <a:moveTo>
                    <a:pt x="0" y="0"/>
                  </a:moveTo>
                  <a:lnTo>
                    <a:pt x="1301500" y="0"/>
                  </a:lnTo>
                  <a:lnTo>
                    <a:pt x="1301500" y="1447734"/>
                  </a:lnTo>
                  <a:lnTo>
                    <a:pt x="0" y="1447734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1301500" cy="15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00000">
            <a:off x="13541247" y="1404671"/>
            <a:ext cx="787655" cy="4224124"/>
            <a:chOff x="0" y="0"/>
            <a:chExt cx="605891" cy="324933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5891" cy="3249338"/>
            </a:xfrm>
            <a:custGeom>
              <a:avLst/>
              <a:gdLst/>
              <a:ahLst/>
              <a:cxnLst/>
              <a:rect r="r" b="b" t="t" l="l"/>
              <a:pathLst>
                <a:path h="3249338" w="605891">
                  <a:moveTo>
                    <a:pt x="0" y="0"/>
                  </a:moveTo>
                  <a:lnTo>
                    <a:pt x="605891" y="0"/>
                  </a:lnTo>
                  <a:lnTo>
                    <a:pt x="605891" y="3249338"/>
                  </a:lnTo>
                  <a:lnTo>
                    <a:pt x="0" y="3249338"/>
                  </a:lnTo>
                  <a:close/>
                </a:path>
              </a:pathLst>
            </a:custGeom>
            <a:solidFill>
              <a:srgbClr val="F2F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605891" cy="333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361628" y="3982821"/>
            <a:ext cx="3987242" cy="2919319"/>
            <a:chOff x="0" y="0"/>
            <a:chExt cx="1274039" cy="9328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74039" cy="932807"/>
            </a:xfrm>
            <a:custGeom>
              <a:avLst/>
              <a:gdLst/>
              <a:ahLst/>
              <a:cxnLst/>
              <a:rect r="r" b="b" t="t" l="l"/>
              <a:pathLst>
                <a:path h="932807" w="1274039">
                  <a:moveTo>
                    <a:pt x="0" y="0"/>
                  </a:moveTo>
                  <a:lnTo>
                    <a:pt x="1274039" y="0"/>
                  </a:lnTo>
                  <a:lnTo>
                    <a:pt x="1274039" y="932807"/>
                  </a:lnTo>
                  <a:lnTo>
                    <a:pt x="0" y="932807"/>
                  </a:lnTo>
                  <a:close/>
                </a:path>
              </a:pathLst>
            </a:custGeom>
            <a:blipFill>
              <a:blip r:embed="rId2"/>
              <a:stretch>
                <a:fillRect l="0" t="-18290" r="0" b="-1829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138723" y="3982821"/>
            <a:ext cx="3995580" cy="2847058"/>
            <a:chOff x="0" y="0"/>
            <a:chExt cx="1140689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0689" cy="812800"/>
            </a:xfrm>
            <a:custGeom>
              <a:avLst/>
              <a:gdLst/>
              <a:ahLst/>
              <a:cxnLst/>
              <a:rect r="r" b="b" t="t" l="l"/>
              <a:pathLst>
                <a:path h="812800" w="1140689">
                  <a:moveTo>
                    <a:pt x="0" y="0"/>
                  </a:moveTo>
                  <a:lnTo>
                    <a:pt x="1140689" y="0"/>
                  </a:lnTo>
                  <a:lnTo>
                    <a:pt x="114068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-2147" r="0" b="-214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836945" y="3910560"/>
            <a:ext cx="4192636" cy="2991580"/>
            <a:chOff x="0" y="0"/>
            <a:chExt cx="1139122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39122" cy="812800"/>
            </a:xfrm>
            <a:custGeom>
              <a:avLst/>
              <a:gdLst/>
              <a:ahLst/>
              <a:cxnLst/>
              <a:rect r="r" b="b" t="t" l="l"/>
              <a:pathLst>
                <a:path h="812800" w="1139122">
                  <a:moveTo>
                    <a:pt x="0" y="0"/>
                  </a:moveTo>
                  <a:lnTo>
                    <a:pt x="1139122" y="0"/>
                  </a:lnTo>
                  <a:lnTo>
                    <a:pt x="113912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-1603" r="0" b="-1603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3266293" y="1467009"/>
            <a:ext cx="10311250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거리 측정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316392" y="7107522"/>
            <a:ext cx="4077714" cy="150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유클리드 거리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맨해튼 거리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민코프스키 거리</a:t>
            </a:r>
          </a:p>
          <a:p>
            <a:pPr algn="l">
              <a:lnSpc>
                <a:spcPts val="2380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7105822" y="7275594"/>
            <a:ext cx="4077714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표준화 거리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마할라노비스 거리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1896217" y="7275594"/>
            <a:ext cx="4077714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코사인 유사도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231F20"/>
                </a:solidFill>
                <a:latin typeface="TDTD순고딕"/>
                <a:ea typeface="TDTD순고딕"/>
                <a:cs typeface="TDTD순고딕"/>
                <a:sym typeface="TDTD순고딕"/>
              </a:rPr>
              <a:t>자카드 계수</a:t>
            </a:r>
          </a:p>
          <a:p>
            <a:pPr algn="l">
              <a:lnSpc>
                <a:spcPts val="3219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12819285" y="3174455"/>
            <a:ext cx="2227956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기타 유사도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266293" y="3183675"/>
            <a:ext cx="2227956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수학적 거리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030701" y="3183675"/>
            <a:ext cx="2227956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231F2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통계적 거리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962791" y="7420633"/>
            <a:ext cx="5695271" cy="562466"/>
          </a:xfrm>
          <a:custGeom>
            <a:avLst/>
            <a:gdLst/>
            <a:ahLst/>
            <a:cxnLst/>
            <a:rect r="r" b="b" t="t" l="l"/>
            <a:pathLst>
              <a:path h="562466" w="5695271">
                <a:moveTo>
                  <a:pt x="0" y="0"/>
                </a:moveTo>
                <a:lnTo>
                  <a:pt x="5695271" y="0"/>
                </a:lnTo>
                <a:lnTo>
                  <a:pt x="5695271" y="562466"/>
                </a:lnTo>
                <a:lnTo>
                  <a:pt x="0" y="562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2727" r="-115751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064005" y="7420633"/>
            <a:ext cx="4715860" cy="536429"/>
          </a:xfrm>
          <a:custGeom>
            <a:avLst/>
            <a:gdLst/>
            <a:ahLst/>
            <a:cxnLst/>
            <a:rect r="r" b="b" t="t" l="l"/>
            <a:pathLst>
              <a:path h="536429" w="4715860">
                <a:moveTo>
                  <a:pt x="0" y="0"/>
                </a:moveTo>
                <a:lnTo>
                  <a:pt x="4715861" y="0"/>
                </a:lnTo>
                <a:lnTo>
                  <a:pt x="4715861" y="536429"/>
                </a:lnTo>
                <a:lnTo>
                  <a:pt x="0" y="536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720124" y="4535720"/>
            <a:ext cx="3703545" cy="2794020"/>
          </a:xfrm>
          <a:custGeom>
            <a:avLst/>
            <a:gdLst/>
            <a:ahLst/>
            <a:cxnLst/>
            <a:rect r="r" b="b" t="t" l="l"/>
            <a:pathLst>
              <a:path h="2794020" w="3703545">
                <a:moveTo>
                  <a:pt x="0" y="0"/>
                </a:moveTo>
                <a:lnTo>
                  <a:pt x="3703546" y="0"/>
                </a:lnTo>
                <a:lnTo>
                  <a:pt x="3703546" y="2794020"/>
                </a:lnTo>
                <a:lnTo>
                  <a:pt x="0" y="2794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9165" r="0" b="-31379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238448" y="2790674"/>
            <a:ext cx="3146469" cy="570230"/>
            <a:chOff x="0" y="0"/>
            <a:chExt cx="4195292" cy="76030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102706"/>
              <a:ext cx="554896" cy="55489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006957" y="-85725"/>
              <a:ext cx="3188335" cy="846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3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수학적 거리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550070" y="4465518"/>
            <a:ext cx="3743731" cy="2742317"/>
          </a:xfrm>
          <a:custGeom>
            <a:avLst/>
            <a:gdLst/>
            <a:ahLst/>
            <a:cxnLst/>
            <a:rect r="r" b="b" t="t" l="l"/>
            <a:pathLst>
              <a:path h="2742317" w="3743731">
                <a:moveTo>
                  <a:pt x="0" y="0"/>
                </a:moveTo>
                <a:lnTo>
                  <a:pt x="3743731" y="0"/>
                </a:lnTo>
                <a:lnTo>
                  <a:pt x="3743731" y="2742317"/>
                </a:lnTo>
                <a:lnTo>
                  <a:pt x="0" y="2742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72" t="0" r="-2172" b="-179995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897094" y="4223166"/>
            <a:ext cx="2524842" cy="71463"/>
            <a:chOff x="0" y="0"/>
            <a:chExt cx="664979" cy="188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4979" cy="18822"/>
            </a:xfrm>
            <a:custGeom>
              <a:avLst/>
              <a:gdLst/>
              <a:ahLst/>
              <a:cxnLst/>
              <a:rect r="r" b="b" t="t" l="l"/>
              <a:pathLst>
                <a:path h="18822" w="664979">
                  <a:moveTo>
                    <a:pt x="0" y="0"/>
                  </a:moveTo>
                  <a:lnTo>
                    <a:pt x="664979" y="0"/>
                  </a:lnTo>
                  <a:lnTo>
                    <a:pt x="664979" y="18822"/>
                  </a:lnTo>
                  <a:lnTo>
                    <a:pt x="0" y="18822"/>
                  </a:lnTo>
                  <a:close/>
                </a:path>
              </a:pathLst>
            </a:custGeom>
            <a:solidFill>
              <a:srgbClr val="76A7E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64979" cy="66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266293" y="1467009"/>
            <a:ext cx="10311250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거리 측정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97094" y="3690400"/>
            <a:ext cx="2271431" cy="53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5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유클리드 거리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24262" y="8293055"/>
            <a:ext cx="6172330" cy="48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두 점의 좌표 간의 </a:t>
            </a:r>
            <a:r>
              <a:rPr lang="en-US" sz="2399" u="sng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절댓값 차이</a:t>
            </a: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를 모두 합산한 값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23300" y="8293055"/>
            <a:ext cx="3197270" cy="48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두 관측치 간의 </a:t>
            </a:r>
            <a:r>
              <a:rPr lang="en-US" sz="2399" u="sng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직선거리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42950" y="3690400"/>
            <a:ext cx="2271431" cy="53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5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맨해튼 거리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042950" y="4223166"/>
            <a:ext cx="2528947" cy="49713"/>
            <a:chOff x="0" y="0"/>
            <a:chExt cx="666060" cy="130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6060" cy="13093"/>
            </a:xfrm>
            <a:custGeom>
              <a:avLst/>
              <a:gdLst/>
              <a:ahLst/>
              <a:cxnLst/>
              <a:rect r="r" b="b" t="t" l="l"/>
              <a:pathLst>
                <a:path h="13093" w="666060">
                  <a:moveTo>
                    <a:pt x="0" y="0"/>
                  </a:moveTo>
                  <a:lnTo>
                    <a:pt x="666060" y="0"/>
                  </a:lnTo>
                  <a:lnTo>
                    <a:pt x="666060" y="13093"/>
                  </a:lnTo>
                  <a:lnTo>
                    <a:pt x="0" y="13093"/>
                  </a:lnTo>
                  <a:close/>
                </a:path>
              </a:pathLst>
            </a:custGeom>
            <a:solidFill>
              <a:srgbClr val="76A7E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66060" cy="6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36" id="36"/>
          <p:cNvSpPr/>
          <p:nvPr/>
        </p:nvSpPr>
        <p:spPr>
          <a:xfrm>
            <a:off x="8871328" y="4223166"/>
            <a:ext cx="0" cy="4246921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10042950" y="4255968"/>
            <a:ext cx="2358343" cy="3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Manhattan distance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897094" y="4255968"/>
            <a:ext cx="2358343" cy="3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Euclidean distance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38448" y="2790674"/>
            <a:ext cx="3146469" cy="570230"/>
            <a:chOff x="0" y="0"/>
            <a:chExt cx="4195292" cy="76030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102706"/>
              <a:ext cx="554896" cy="55489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006957" y="-85725"/>
              <a:ext cx="3188335" cy="846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3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통계적 거리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97094" y="4223166"/>
            <a:ext cx="2524842" cy="71463"/>
            <a:chOff x="0" y="0"/>
            <a:chExt cx="664979" cy="188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4979" cy="18822"/>
            </a:xfrm>
            <a:custGeom>
              <a:avLst/>
              <a:gdLst/>
              <a:ahLst/>
              <a:cxnLst/>
              <a:rect r="r" b="b" t="t" l="l"/>
              <a:pathLst>
                <a:path h="18822" w="664979">
                  <a:moveTo>
                    <a:pt x="0" y="0"/>
                  </a:moveTo>
                  <a:lnTo>
                    <a:pt x="664979" y="0"/>
                  </a:lnTo>
                  <a:lnTo>
                    <a:pt x="664979" y="18822"/>
                  </a:lnTo>
                  <a:lnTo>
                    <a:pt x="0" y="18822"/>
                  </a:lnTo>
                  <a:close/>
                </a:path>
              </a:pathLst>
            </a:custGeom>
            <a:solidFill>
              <a:srgbClr val="76A7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64979" cy="66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42950" y="4225254"/>
            <a:ext cx="3265381" cy="47625"/>
            <a:chOff x="0" y="0"/>
            <a:chExt cx="860018" cy="125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0018" cy="12543"/>
            </a:xfrm>
            <a:custGeom>
              <a:avLst/>
              <a:gdLst/>
              <a:ahLst/>
              <a:cxnLst/>
              <a:rect r="r" b="b" t="t" l="l"/>
              <a:pathLst>
                <a:path h="12543" w="860018">
                  <a:moveTo>
                    <a:pt x="0" y="0"/>
                  </a:moveTo>
                  <a:lnTo>
                    <a:pt x="860018" y="0"/>
                  </a:lnTo>
                  <a:lnTo>
                    <a:pt x="860018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76A7E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60018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8871328" y="4223166"/>
            <a:ext cx="0" cy="4246921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0921394" y="7415619"/>
            <a:ext cx="4179510" cy="794107"/>
          </a:xfrm>
          <a:custGeom>
            <a:avLst/>
            <a:gdLst/>
            <a:ahLst/>
            <a:cxnLst/>
            <a:rect r="r" b="b" t="t" l="l"/>
            <a:pathLst>
              <a:path h="794107" w="4179510">
                <a:moveTo>
                  <a:pt x="0" y="0"/>
                </a:moveTo>
                <a:lnTo>
                  <a:pt x="4179510" y="0"/>
                </a:lnTo>
                <a:lnTo>
                  <a:pt x="4179510" y="794107"/>
                </a:lnTo>
                <a:lnTo>
                  <a:pt x="0" y="7941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199793" y="4726580"/>
            <a:ext cx="6217074" cy="2565214"/>
          </a:xfrm>
          <a:custGeom>
            <a:avLst/>
            <a:gdLst/>
            <a:ahLst/>
            <a:cxnLst/>
            <a:rect r="r" b="b" t="t" l="l"/>
            <a:pathLst>
              <a:path h="2565214" w="6217074">
                <a:moveTo>
                  <a:pt x="0" y="0"/>
                </a:moveTo>
                <a:lnTo>
                  <a:pt x="6217074" y="0"/>
                </a:lnTo>
                <a:lnTo>
                  <a:pt x="6217074" y="2565214"/>
                </a:lnTo>
                <a:lnTo>
                  <a:pt x="0" y="2565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110471" y="7429048"/>
            <a:ext cx="3708220" cy="780678"/>
          </a:xfrm>
          <a:custGeom>
            <a:avLst/>
            <a:gdLst/>
            <a:ahLst/>
            <a:cxnLst/>
            <a:rect r="r" b="b" t="t" l="l"/>
            <a:pathLst>
              <a:path h="780678" w="3708220">
                <a:moveTo>
                  <a:pt x="0" y="0"/>
                </a:moveTo>
                <a:lnTo>
                  <a:pt x="3708220" y="0"/>
                </a:lnTo>
                <a:lnTo>
                  <a:pt x="3708220" y="780678"/>
                </a:lnTo>
                <a:lnTo>
                  <a:pt x="0" y="780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284511" y="4918813"/>
            <a:ext cx="3360141" cy="2372981"/>
          </a:xfrm>
          <a:custGeom>
            <a:avLst/>
            <a:gdLst/>
            <a:ahLst/>
            <a:cxnLst/>
            <a:rect r="r" b="b" t="t" l="l"/>
            <a:pathLst>
              <a:path h="2372981" w="3360141">
                <a:moveTo>
                  <a:pt x="0" y="0"/>
                </a:moveTo>
                <a:lnTo>
                  <a:pt x="3360140" y="0"/>
                </a:lnTo>
                <a:lnTo>
                  <a:pt x="3360140" y="2372981"/>
                </a:lnTo>
                <a:lnTo>
                  <a:pt x="0" y="23729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266293" y="1467009"/>
            <a:ext cx="10311250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거리 측정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97094" y="3690400"/>
            <a:ext cx="1765133" cy="53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5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표준화 거리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86821" y="8294569"/>
            <a:ext cx="5643019" cy="48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399" u="sng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변수의 표준화 + 변수의 상관성</a:t>
            </a: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고려한 거리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18252" y="8294569"/>
            <a:ext cx="5674370" cy="48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399" u="sng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표준편차로 나누어</a:t>
            </a: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척도 차이를 보정한 거리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42950" y="3690400"/>
            <a:ext cx="2767477" cy="53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5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마할라노비스 거리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97094" y="4255968"/>
            <a:ext cx="2358343" cy="3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Standardized distance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42950" y="4255968"/>
            <a:ext cx="2358343" cy="3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Mahalanobis distance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38448" y="2790674"/>
            <a:ext cx="3146469" cy="570230"/>
            <a:chOff x="0" y="0"/>
            <a:chExt cx="4195292" cy="76030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102706"/>
              <a:ext cx="554896" cy="55489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006957" y="-85725"/>
              <a:ext cx="3188335" cy="846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3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기타 유사도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97094" y="4223166"/>
            <a:ext cx="2524842" cy="71463"/>
            <a:chOff x="0" y="0"/>
            <a:chExt cx="664979" cy="188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4979" cy="18822"/>
            </a:xfrm>
            <a:custGeom>
              <a:avLst/>
              <a:gdLst/>
              <a:ahLst/>
              <a:cxnLst/>
              <a:rect r="r" b="b" t="t" l="l"/>
              <a:pathLst>
                <a:path h="18822" w="664979">
                  <a:moveTo>
                    <a:pt x="0" y="0"/>
                  </a:moveTo>
                  <a:lnTo>
                    <a:pt x="664979" y="0"/>
                  </a:lnTo>
                  <a:lnTo>
                    <a:pt x="664979" y="18822"/>
                  </a:lnTo>
                  <a:lnTo>
                    <a:pt x="0" y="18822"/>
                  </a:lnTo>
                  <a:close/>
                </a:path>
              </a:pathLst>
            </a:custGeom>
            <a:solidFill>
              <a:srgbClr val="76A7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64979" cy="66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42950" y="4225254"/>
            <a:ext cx="3265381" cy="47625"/>
            <a:chOff x="0" y="0"/>
            <a:chExt cx="860018" cy="125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0018" cy="12543"/>
            </a:xfrm>
            <a:custGeom>
              <a:avLst/>
              <a:gdLst/>
              <a:ahLst/>
              <a:cxnLst/>
              <a:rect r="r" b="b" t="t" l="l"/>
              <a:pathLst>
                <a:path h="12543" w="860018">
                  <a:moveTo>
                    <a:pt x="0" y="0"/>
                  </a:moveTo>
                  <a:lnTo>
                    <a:pt x="860018" y="0"/>
                  </a:lnTo>
                  <a:lnTo>
                    <a:pt x="860018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76A7E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60018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8871328" y="4223166"/>
            <a:ext cx="0" cy="4246921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2573439" y="4846517"/>
            <a:ext cx="5816782" cy="3136581"/>
          </a:xfrm>
          <a:custGeom>
            <a:avLst/>
            <a:gdLst/>
            <a:ahLst/>
            <a:cxnLst/>
            <a:rect r="r" b="b" t="t" l="l"/>
            <a:pathLst>
              <a:path h="3136581" w="5816782">
                <a:moveTo>
                  <a:pt x="0" y="0"/>
                </a:moveTo>
                <a:lnTo>
                  <a:pt x="5816782" y="0"/>
                </a:lnTo>
                <a:lnTo>
                  <a:pt x="5816782" y="3136582"/>
                </a:lnTo>
                <a:lnTo>
                  <a:pt x="0" y="3136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832885" y="4917697"/>
            <a:ext cx="3744658" cy="2807678"/>
          </a:xfrm>
          <a:custGeom>
            <a:avLst/>
            <a:gdLst/>
            <a:ahLst/>
            <a:cxnLst/>
            <a:rect r="r" b="b" t="t" l="l"/>
            <a:pathLst>
              <a:path h="2807678" w="3744658">
                <a:moveTo>
                  <a:pt x="0" y="0"/>
                </a:moveTo>
                <a:lnTo>
                  <a:pt x="3744658" y="0"/>
                </a:lnTo>
                <a:lnTo>
                  <a:pt x="3744658" y="2807678"/>
                </a:lnTo>
                <a:lnTo>
                  <a:pt x="0" y="2807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80" t="-2535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308330" y="6620325"/>
            <a:ext cx="3171014" cy="1105050"/>
          </a:xfrm>
          <a:custGeom>
            <a:avLst/>
            <a:gdLst/>
            <a:ahLst/>
            <a:cxnLst/>
            <a:rect r="r" b="b" t="t" l="l"/>
            <a:pathLst>
              <a:path h="1105050" w="3171014">
                <a:moveTo>
                  <a:pt x="0" y="0"/>
                </a:moveTo>
                <a:lnTo>
                  <a:pt x="3171015" y="0"/>
                </a:lnTo>
                <a:lnTo>
                  <a:pt x="3171015" y="1105050"/>
                </a:lnTo>
                <a:lnTo>
                  <a:pt x="0" y="1105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266293" y="1467009"/>
            <a:ext cx="10311250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거리 측정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97094" y="3690400"/>
            <a:ext cx="2271431" cy="53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5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코사인 유사도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90565" y="8071757"/>
            <a:ext cx="6839723" cy="94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sz="2199" u="sng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명목형 데이터의 유사성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을 보는 척도</a:t>
            </a:r>
          </a:p>
          <a:p>
            <a:pPr algn="ctr">
              <a:lnSpc>
                <a:spcPts val="3849"/>
              </a:lnSpc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두 집합의 합집합 원소 수 대비 교집합 원소 수의 비율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24165" y="8293055"/>
            <a:ext cx="4195541" cy="48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399" u="sng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두 벡터의 방향 차이</a:t>
            </a: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를 보는 척도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42950" y="3740113"/>
            <a:ext cx="2767477" cy="53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5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자카드 계수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897094" y="4255968"/>
            <a:ext cx="2358343" cy="3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Cosine similarity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42950" y="4255968"/>
            <a:ext cx="2358343" cy="3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5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Jaccard coefficient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896014" y="5552147"/>
            <a:ext cx="9210159" cy="3453810"/>
          </a:xfrm>
          <a:custGeom>
            <a:avLst/>
            <a:gdLst/>
            <a:ahLst/>
            <a:cxnLst/>
            <a:rect r="r" b="b" t="t" l="l"/>
            <a:pathLst>
              <a:path h="3453810" w="9210159">
                <a:moveTo>
                  <a:pt x="0" y="0"/>
                </a:moveTo>
                <a:lnTo>
                  <a:pt x="9210160" y="0"/>
                </a:lnTo>
                <a:lnTo>
                  <a:pt x="9210160" y="3453810"/>
                </a:lnTo>
                <a:lnTo>
                  <a:pt x="0" y="3453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899288" y="5552147"/>
            <a:ext cx="6039274" cy="3453810"/>
            <a:chOff x="0" y="0"/>
            <a:chExt cx="1657982" cy="9481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57982" cy="948186"/>
            </a:xfrm>
            <a:custGeom>
              <a:avLst/>
              <a:gdLst/>
              <a:ahLst/>
              <a:cxnLst/>
              <a:rect r="r" b="b" t="t" l="l"/>
              <a:pathLst>
                <a:path h="948186" w="1657982">
                  <a:moveTo>
                    <a:pt x="0" y="0"/>
                  </a:moveTo>
                  <a:lnTo>
                    <a:pt x="1657982" y="0"/>
                  </a:lnTo>
                  <a:lnTo>
                    <a:pt x="1657982" y="948186"/>
                  </a:lnTo>
                  <a:lnTo>
                    <a:pt x="0" y="948186"/>
                  </a:lnTo>
                  <a:close/>
                </a:path>
              </a:pathLst>
            </a:custGeom>
            <a:ln w="4762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57982" cy="995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12091131" y="8170940"/>
            <a:ext cx="240685" cy="210599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266293" y="1467009"/>
            <a:ext cx="11303235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전처리 과정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grpSp>
        <p:nvGrpSpPr>
          <p:cNvPr name="Group 24" id="24"/>
          <p:cNvGrpSpPr/>
          <p:nvPr/>
        </p:nvGrpSpPr>
        <p:grpSpPr>
          <a:xfrm rot="-5400000">
            <a:off x="3571094" y="2349585"/>
            <a:ext cx="827427" cy="2177587"/>
            <a:chOff x="0" y="0"/>
            <a:chExt cx="95898" cy="2523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898" cy="252382"/>
            </a:xfrm>
            <a:custGeom>
              <a:avLst/>
              <a:gdLst/>
              <a:ahLst/>
              <a:cxnLst/>
              <a:rect r="r" b="b" t="t" l="l"/>
              <a:pathLst>
                <a:path h="252382" w="95898">
                  <a:moveTo>
                    <a:pt x="47949" y="0"/>
                  </a:moveTo>
                  <a:lnTo>
                    <a:pt x="47949" y="0"/>
                  </a:lnTo>
                  <a:cubicBezTo>
                    <a:pt x="60666" y="0"/>
                    <a:pt x="72862" y="5052"/>
                    <a:pt x="81854" y="14044"/>
                  </a:cubicBezTo>
                  <a:cubicBezTo>
                    <a:pt x="90847" y="23036"/>
                    <a:pt x="95898" y="35232"/>
                    <a:pt x="95898" y="47949"/>
                  </a:cubicBezTo>
                  <a:lnTo>
                    <a:pt x="95898" y="204432"/>
                  </a:lnTo>
                  <a:cubicBezTo>
                    <a:pt x="95898" y="230914"/>
                    <a:pt x="74431" y="252382"/>
                    <a:pt x="47949" y="252382"/>
                  </a:cubicBezTo>
                  <a:lnTo>
                    <a:pt x="47949" y="252382"/>
                  </a:lnTo>
                  <a:cubicBezTo>
                    <a:pt x="21468" y="252382"/>
                    <a:pt x="0" y="230914"/>
                    <a:pt x="0" y="204432"/>
                  </a:cubicBezTo>
                  <a:lnTo>
                    <a:pt x="0" y="47949"/>
                  </a:lnTo>
                  <a:cubicBezTo>
                    <a:pt x="0" y="21468"/>
                    <a:pt x="21468" y="0"/>
                    <a:pt x="47949" y="0"/>
                  </a:cubicBezTo>
                  <a:close/>
                </a:path>
              </a:pathLst>
            </a:custGeom>
            <a:solidFill>
              <a:srgbClr val="D1E0F1">
                <a:alpha val="6000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5898" cy="300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081153" y="3023818"/>
            <a:ext cx="1807308" cy="79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4"/>
              </a:lnSpc>
              <a:spcBef>
                <a:spcPct val="0"/>
              </a:spcBef>
            </a:pPr>
            <a:r>
              <a:rPr lang="en-US" b="true" sz="4617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WHY?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49177" y="3022997"/>
            <a:ext cx="872283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거리 기반 군집화는 변수의 단위와 범위에 직접 영향을 받으므로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u="sng">
                <a:solidFill>
                  <a:srgbClr val="FF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스케일이 큰 변수 하나가 군집 결과를 과도하게 지배</a:t>
            </a: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하는 문제 발생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766871" y="4377031"/>
            <a:ext cx="998843" cy="477435"/>
            <a:chOff x="0" y="0"/>
            <a:chExt cx="465946" cy="22271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5946" cy="222717"/>
            </a:xfrm>
            <a:custGeom>
              <a:avLst/>
              <a:gdLst/>
              <a:ahLst/>
              <a:cxnLst/>
              <a:rect r="r" b="b" t="t" l="l"/>
              <a:pathLst>
                <a:path h="222717" w="465946">
                  <a:moveTo>
                    <a:pt x="232973" y="0"/>
                  </a:moveTo>
                  <a:cubicBezTo>
                    <a:pt x="104306" y="0"/>
                    <a:pt x="0" y="49857"/>
                    <a:pt x="0" y="111358"/>
                  </a:cubicBezTo>
                  <a:cubicBezTo>
                    <a:pt x="0" y="172860"/>
                    <a:pt x="104306" y="222717"/>
                    <a:pt x="232973" y="222717"/>
                  </a:cubicBezTo>
                  <a:cubicBezTo>
                    <a:pt x="361641" y="222717"/>
                    <a:pt x="465946" y="172860"/>
                    <a:pt x="465946" y="111358"/>
                  </a:cubicBezTo>
                  <a:cubicBezTo>
                    <a:pt x="465946" y="49857"/>
                    <a:pt x="361641" y="0"/>
                    <a:pt x="232973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43682" y="-26745"/>
              <a:ext cx="378581" cy="22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026307" y="4433821"/>
            <a:ext cx="47997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예시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07585" y="4327212"/>
            <a:ext cx="10461943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아래 사진의 데이터 분포는 </a:t>
            </a:r>
            <a:r>
              <a:rPr lang="en-US" sz="1800" u="sng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Frequency, Monetary 컬럼</a:t>
            </a:r>
            <a:r>
              <a:rPr lang="en-US" sz="18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 특정 범위에 극단적으로 몰려있는 모습을 보인다.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이러한 왜곡된 데이터에 군집 모델을 적용하게 되면 </a:t>
            </a:r>
            <a:r>
              <a:rPr lang="en-US" sz="1800">
                <a:solidFill>
                  <a:srgbClr val="026FFF"/>
                </a:solidFill>
                <a:latin typeface="TDTD순고딕"/>
                <a:ea typeface="TDTD순고딕"/>
                <a:cs typeface="TDTD순고딕"/>
                <a:sym typeface="TDTD순고딕"/>
              </a:rPr>
              <a:t>중심점이 이상값에 이끌려 변별력이 떨어지는 군집화가 수행</a:t>
            </a:r>
            <a:r>
              <a:rPr lang="en-US" sz="18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되며, </a:t>
            </a:r>
            <a:r>
              <a:rPr lang="en-US" sz="1800">
                <a:solidFill>
                  <a:srgbClr val="026FFF"/>
                </a:solidFill>
                <a:latin typeface="TDTD순고딕"/>
                <a:ea typeface="TDTD순고딕"/>
                <a:cs typeface="TDTD순고딕"/>
                <a:sym typeface="TDTD순고딕"/>
              </a:rPr>
              <a:t>군집 수를 늘려도 소수의 이상값 데이터만으로 구성된 의미 없는 작은 군집들이 계속 분리</a:t>
            </a:r>
            <a:r>
              <a:rPr lang="en-US" sz="18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된다.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04335" y="7897248"/>
            <a:ext cx="3597276" cy="110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스케일링(Scaling), 로그 변환(log transformation) </a:t>
            </a:r>
            <a:r>
              <a:rPr lang="en-US" sz="21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등으로 해결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54561" y="2795794"/>
            <a:ext cx="7307176" cy="424180"/>
            <a:chOff x="0" y="0"/>
            <a:chExt cx="9742901" cy="56557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121451"/>
              <a:ext cx="322671" cy="32267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39700" y="63500"/>
                <a:ext cx="5334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68309" y="-76200"/>
              <a:ext cx="9174592" cy="641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데이터 스케일링 (Data Scaling)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79803" y="4048527"/>
            <a:ext cx="3677591" cy="3489264"/>
          </a:xfrm>
          <a:custGeom>
            <a:avLst/>
            <a:gdLst/>
            <a:ahLst/>
            <a:cxnLst/>
            <a:rect r="r" b="b" t="t" l="l"/>
            <a:pathLst>
              <a:path h="3489264" w="3677591">
                <a:moveTo>
                  <a:pt x="0" y="0"/>
                </a:moveTo>
                <a:lnTo>
                  <a:pt x="3677590" y="0"/>
                </a:lnTo>
                <a:lnTo>
                  <a:pt x="3677590" y="3489263"/>
                </a:lnTo>
                <a:lnTo>
                  <a:pt x="0" y="348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903" t="0" r="-101397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66293" y="1467009"/>
            <a:ext cx="1093583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전처리 과정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61737" y="4299638"/>
            <a:ext cx="7001133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 값의 스케일(범위)를 조정</a:t>
            </a:r>
            <a:r>
              <a:rPr lang="en-US" sz="24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하여 척도를 맞추는 과정으로 StandardScaler 등을 사용하면 각 데이터 변수를 평균 0, 표준편차 1로 재조정(표준화)할 수 있다.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군집화의 경우 거리 기반 알고리즘으로 거리 기반으로 유사성을 판단하기에, 범위가 큰 변수는 거리 계산에 더 큰 영향을 준다. 따라서 각 변수가 공평하게 반영되도록 스케일링이 필요하다.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598547" y="4048527"/>
            <a:ext cx="3734610" cy="3489264"/>
          </a:xfrm>
          <a:custGeom>
            <a:avLst/>
            <a:gdLst/>
            <a:ahLst/>
            <a:cxnLst/>
            <a:rect r="r" b="b" t="t" l="l"/>
            <a:pathLst>
              <a:path h="3489264" w="3734610">
                <a:moveTo>
                  <a:pt x="0" y="0"/>
                </a:moveTo>
                <a:lnTo>
                  <a:pt x="3734610" y="0"/>
                </a:lnTo>
                <a:lnTo>
                  <a:pt x="3734610" y="3489263"/>
                </a:lnTo>
                <a:lnTo>
                  <a:pt x="0" y="348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608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102983" y="3508027"/>
            <a:ext cx="8651438" cy="5223306"/>
          </a:xfrm>
          <a:custGeom>
            <a:avLst/>
            <a:gdLst/>
            <a:ahLst/>
            <a:cxnLst/>
            <a:rect r="r" b="b" t="t" l="l"/>
            <a:pathLst>
              <a:path h="5223306" w="8651438">
                <a:moveTo>
                  <a:pt x="0" y="0"/>
                </a:moveTo>
                <a:lnTo>
                  <a:pt x="8651438" y="0"/>
                </a:lnTo>
                <a:lnTo>
                  <a:pt x="8651438" y="5223306"/>
                </a:lnTo>
                <a:lnTo>
                  <a:pt x="0" y="5223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군집화의 핵심 원리 - 전처리 과정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354561" y="2795794"/>
            <a:ext cx="7307176" cy="424180"/>
            <a:chOff x="0" y="0"/>
            <a:chExt cx="9742901" cy="56557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121451"/>
              <a:ext cx="322671" cy="3226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39700" y="63500"/>
                <a:ext cx="5334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68309" y="-76200"/>
              <a:ext cx="9174592" cy="641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로그 변환 (Log transformation)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100044" y="6401490"/>
            <a:ext cx="504334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소수의 이상값만 분리하는 의미 없는 군집 형성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00044" y="7590209"/>
            <a:ext cx="4830475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보다 균일하게 군집화가 구성되어 숨겨진 집단을 발견함으로써 본래 목적에 부합한 결과 도출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00044" y="5955264"/>
            <a:ext cx="177283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[로그 변환 전]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00044" y="7131739"/>
            <a:ext cx="177283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[로그 변환 후]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00044" y="3911199"/>
            <a:ext cx="5411039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데이터에 로그를 적용해 큰 값을 압축하는 방법</a:t>
            </a: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으로 np.log1p()등을 사용한다. 주로 </a:t>
            </a:r>
            <a:r>
              <a:rPr lang="en-US" b="true" sz="2400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오른쪽으로 치우친 분포를 완화</a:t>
            </a: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하고 이상치의 영향력을 줄이는 데 활용한다.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693223" y="4565095"/>
            <a:ext cx="4700654" cy="4193560"/>
          </a:xfrm>
          <a:custGeom>
            <a:avLst/>
            <a:gdLst/>
            <a:ahLst/>
            <a:cxnLst/>
            <a:rect r="r" b="b" t="t" l="l"/>
            <a:pathLst>
              <a:path h="4193560" w="4700654">
                <a:moveTo>
                  <a:pt x="0" y="0"/>
                </a:moveTo>
                <a:lnTo>
                  <a:pt x="4700654" y="0"/>
                </a:lnTo>
                <a:lnTo>
                  <a:pt x="4700654" y="4193561"/>
                </a:lnTo>
                <a:lnTo>
                  <a:pt x="0" y="4193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343" t="0" r="-58184" b="0"/>
            </a:stretch>
          </a:blipFill>
          <a:ln w="19050" cap="sq">
            <a:solidFill>
              <a:srgbClr val="A2A2A2"/>
            </a:solidFill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 알고리즘 - K-means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-5400000">
            <a:off x="3902599" y="1614778"/>
            <a:ext cx="827427" cy="3613869"/>
            <a:chOff x="0" y="0"/>
            <a:chExt cx="95898" cy="4188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898" cy="418846"/>
            </a:xfrm>
            <a:custGeom>
              <a:avLst/>
              <a:gdLst/>
              <a:ahLst/>
              <a:cxnLst/>
              <a:rect r="r" b="b" t="t" l="l"/>
              <a:pathLst>
                <a:path h="418846" w="95898">
                  <a:moveTo>
                    <a:pt x="47949" y="0"/>
                  </a:moveTo>
                  <a:lnTo>
                    <a:pt x="47949" y="0"/>
                  </a:lnTo>
                  <a:cubicBezTo>
                    <a:pt x="60666" y="0"/>
                    <a:pt x="72862" y="5052"/>
                    <a:pt x="81854" y="14044"/>
                  </a:cubicBezTo>
                  <a:cubicBezTo>
                    <a:pt x="90847" y="23036"/>
                    <a:pt x="95898" y="35232"/>
                    <a:pt x="95898" y="47949"/>
                  </a:cubicBezTo>
                  <a:lnTo>
                    <a:pt x="95898" y="370897"/>
                  </a:lnTo>
                  <a:cubicBezTo>
                    <a:pt x="95898" y="397379"/>
                    <a:pt x="74431" y="418846"/>
                    <a:pt x="47949" y="418846"/>
                  </a:cubicBezTo>
                  <a:lnTo>
                    <a:pt x="47949" y="418846"/>
                  </a:lnTo>
                  <a:cubicBezTo>
                    <a:pt x="21468" y="418846"/>
                    <a:pt x="0" y="397379"/>
                    <a:pt x="0" y="370897"/>
                  </a:cubicBezTo>
                  <a:lnTo>
                    <a:pt x="0" y="47949"/>
                  </a:lnTo>
                  <a:cubicBezTo>
                    <a:pt x="0" y="21468"/>
                    <a:pt x="21468" y="0"/>
                    <a:pt x="47949" y="0"/>
                  </a:cubicBezTo>
                  <a:close/>
                </a:path>
              </a:pathLst>
            </a:custGeom>
            <a:solidFill>
              <a:srgbClr val="D1E0F1">
                <a:alpha val="6000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5898" cy="466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712575" y="2945500"/>
            <a:ext cx="3284883" cy="8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9"/>
              </a:lnSpc>
              <a:spcBef>
                <a:spcPct val="0"/>
              </a:spcBef>
            </a:pPr>
            <a:r>
              <a:rPr lang="en-US" b="true" sz="4877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K-Means ?</a:t>
            </a:r>
          </a:p>
        </p:txBody>
      </p:sp>
      <p:grpSp>
        <p:nvGrpSpPr>
          <p:cNvPr name="Group 22" id="22"/>
          <p:cNvGrpSpPr/>
          <p:nvPr/>
        </p:nvGrpSpPr>
        <p:grpSpPr>
          <a:xfrm rot="-5400000">
            <a:off x="10546013" y="-983222"/>
            <a:ext cx="827427" cy="8894421"/>
            <a:chOff x="0" y="0"/>
            <a:chExt cx="95898" cy="10308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898" cy="1030860"/>
            </a:xfrm>
            <a:custGeom>
              <a:avLst/>
              <a:gdLst/>
              <a:ahLst/>
              <a:cxnLst/>
              <a:rect r="r" b="b" t="t" l="l"/>
              <a:pathLst>
                <a:path h="1030860" w="95898">
                  <a:moveTo>
                    <a:pt x="47949" y="0"/>
                  </a:moveTo>
                  <a:lnTo>
                    <a:pt x="47949" y="0"/>
                  </a:lnTo>
                  <a:cubicBezTo>
                    <a:pt x="60666" y="0"/>
                    <a:pt x="72862" y="5052"/>
                    <a:pt x="81854" y="14044"/>
                  </a:cubicBezTo>
                  <a:cubicBezTo>
                    <a:pt x="90847" y="23036"/>
                    <a:pt x="95898" y="35232"/>
                    <a:pt x="95898" y="47949"/>
                  </a:cubicBezTo>
                  <a:lnTo>
                    <a:pt x="95898" y="982911"/>
                  </a:lnTo>
                  <a:cubicBezTo>
                    <a:pt x="95898" y="1009393"/>
                    <a:pt x="74431" y="1030860"/>
                    <a:pt x="47949" y="1030860"/>
                  </a:cubicBezTo>
                  <a:lnTo>
                    <a:pt x="47949" y="1030860"/>
                  </a:lnTo>
                  <a:cubicBezTo>
                    <a:pt x="21468" y="1030860"/>
                    <a:pt x="0" y="1009393"/>
                    <a:pt x="0" y="982911"/>
                  </a:cubicBezTo>
                  <a:lnTo>
                    <a:pt x="0" y="47949"/>
                  </a:lnTo>
                  <a:cubicBezTo>
                    <a:pt x="0" y="21468"/>
                    <a:pt x="21468" y="0"/>
                    <a:pt x="47949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5898" cy="107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735065" y="3175698"/>
            <a:ext cx="8449322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한 군집의 대표값을 평균</a:t>
            </a:r>
            <a:r>
              <a:rPr lang="en-US" b="true" sz="27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으로 두고 군집을 형성하는 방식 </a:t>
            </a:r>
          </a:p>
        </p:txBody>
      </p:sp>
      <p:grpSp>
        <p:nvGrpSpPr>
          <p:cNvPr name="Group 26" id="26"/>
          <p:cNvGrpSpPr/>
          <p:nvPr/>
        </p:nvGrpSpPr>
        <p:grpSpPr>
          <a:xfrm rot="-5400000">
            <a:off x="9967549" y="2862257"/>
            <a:ext cx="3879154" cy="8352561"/>
            <a:chOff x="0" y="0"/>
            <a:chExt cx="449593" cy="9680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9593" cy="968059"/>
            </a:xfrm>
            <a:custGeom>
              <a:avLst/>
              <a:gdLst/>
              <a:ahLst/>
              <a:cxnLst/>
              <a:rect r="r" b="b" t="t" l="l"/>
              <a:pathLst>
                <a:path h="968059" w="449593">
                  <a:moveTo>
                    <a:pt x="38980" y="0"/>
                  </a:moveTo>
                  <a:lnTo>
                    <a:pt x="410613" y="0"/>
                  </a:lnTo>
                  <a:cubicBezTo>
                    <a:pt x="432141" y="0"/>
                    <a:pt x="449593" y="17452"/>
                    <a:pt x="449593" y="38980"/>
                  </a:cubicBezTo>
                  <a:lnTo>
                    <a:pt x="449593" y="929079"/>
                  </a:lnTo>
                  <a:cubicBezTo>
                    <a:pt x="449593" y="950607"/>
                    <a:pt x="432141" y="968059"/>
                    <a:pt x="410613" y="968059"/>
                  </a:cubicBezTo>
                  <a:lnTo>
                    <a:pt x="38980" y="968059"/>
                  </a:lnTo>
                  <a:cubicBezTo>
                    <a:pt x="17452" y="968059"/>
                    <a:pt x="0" y="950607"/>
                    <a:pt x="0" y="929079"/>
                  </a:cubicBezTo>
                  <a:lnTo>
                    <a:pt x="0" y="38980"/>
                  </a:lnTo>
                  <a:cubicBezTo>
                    <a:pt x="0" y="17452"/>
                    <a:pt x="17452" y="0"/>
                    <a:pt x="38980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49593" cy="1015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846958" y="5175101"/>
            <a:ext cx="8023575" cy="3558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4092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군집의 개수 K를 결정</a:t>
            </a:r>
          </a:p>
          <a:p>
            <a:pPr algn="l" marL="474981" indent="-237491" lvl="1">
              <a:lnSpc>
                <a:spcPts val="4092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초기 군집 중심점(centroid) K개를 설정</a:t>
            </a:r>
          </a:p>
          <a:p>
            <a:pPr algn="l" marL="474981" indent="-237491" lvl="1">
              <a:lnSpc>
                <a:spcPts val="4092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각 데이터를 가장 가까운 중심점에 할당                                     (군집 내 제곱거리합 최소화)</a:t>
            </a:r>
          </a:p>
          <a:p>
            <a:pPr algn="l" marL="474981" indent="-237491" lvl="1">
              <a:lnSpc>
                <a:spcPts val="4092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각 군집 데이터들의 평균을 계산하여 새로운 중심점을 구함</a:t>
            </a:r>
          </a:p>
          <a:p>
            <a:pPr algn="l" marL="474981" indent="-237491" lvl="1">
              <a:lnSpc>
                <a:spcPts val="4092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중심점이 더 이상 크게 변하지 않을 때까지 3~4번 과정 반복</a:t>
            </a:r>
          </a:p>
          <a:p>
            <a:pPr algn="l" marL="474981" indent="-237491" lvl="1">
              <a:lnSpc>
                <a:spcPts val="4092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중심점이 수렴하면 알고리즘 종료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30845" y="4325377"/>
            <a:ext cx="4812832" cy="59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7"/>
              </a:lnSpc>
              <a:spcBef>
                <a:spcPct val="0"/>
              </a:spcBef>
            </a:pPr>
            <a:r>
              <a:rPr lang="en-US" b="true" sz="33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How clustering works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군집화 알고리즘 - K-means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03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3455703" y="3083597"/>
            <a:ext cx="5237726" cy="5616547"/>
            <a:chOff x="0" y="0"/>
            <a:chExt cx="607051" cy="6509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7051" cy="650956"/>
            </a:xfrm>
            <a:custGeom>
              <a:avLst/>
              <a:gdLst/>
              <a:ahLst/>
              <a:cxnLst/>
              <a:rect r="r" b="b" t="t" l="l"/>
              <a:pathLst>
                <a:path h="650956" w="607051">
                  <a:moveTo>
                    <a:pt x="28869" y="0"/>
                  </a:moveTo>
                  <a:lnTo>
                    <a:pt x="578181" y="0"/>
                  </a:lnTo>
                  <a:cubicBezTo>
                    <a:pt x="585838" y="0"/>
                    <a:pt x="593181" y="3042"/>
                    <a:pt x="598595" y="8456"/>
                  </a:cubicBezTo>
                  <a:cubicBezTo>
                    <a:pt x="604009" y="13870"/>
                    <a:pt x="607051" y="21213"/>
                    <a:pt x="607051" y="28869"/>
                  </a:cubicBezTo>
                  <a:lnTo>
                    <a:pt x="607051" y="622086"/>
                  </a:lnTo>
                  <a:cubicBezTo>
                    <a:pt x="607051" y="629743"/>
                    <a:pt x="604009" y="637086"/>
                    <a:pt x="598595" y="642500"/>
                  </a:cubicBezTo>
                  <a:cubicBezTo>
                    <a:pt x="593181" y="647914"/>
                    <a:pt x="585838" y="650956"/>
                    <a:pt x="578181" y="650956"/>
                  </a:cubicBezTo>
                  <a:lnTo>
                    <a:pt x="28869" y="650956"/>
                  </a:lnTo>
                  <a:cubicBezTo>
                    <a:pt x="21213" y="650956"/>
                    <a:pt x="13870" y="647914"/>
                    <a:pt x="8456" y="642500"/>
                  </a:cubicBezTo>
                  <a:cubicBezTo>
                    <a:pt x="3042" y="637086"/>
                    <a:pt x="0" y="629743"/>
                    <a:pt x="0" y="622086"/>
                  </a:cubicBezTo>
                  <a:lnTo>
                    <a:pt x="0" y="28869"/>
                  </a:lnTo>
                  <a:cubicBezTo>
                    <a:pt x="0" y="21213"/>
                    <a:pt x="3042" y="13870"/>
                    <a:pt x="8456" y="8456"/>
                  </a:cubicBezTo>
                  <a:cubicBezTo>
                    <a:pt x="13870" y="3042"/>
                    <a:pt x="21213" y="0"/>
                    <a:pt x="28869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07051" cy="69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266293" y="2843302"/>
            <a:ext cx="534558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727070"/>
                </a:solidFill>
                <a:latin typeface="210 토스트 Bold"/>
                <a:ea typeface="210 토스트 Bold"/>
                <a:cs typeface="210 토스트 Bold"/>
                <a:sym typeface="210 토스트 Bold"/>
              </a:rPr>
              <a:t>Strengths</a:t>
            </a:r>
          </a:p>
        </p:txBody>
      </p:sp>
      <p:grpSp>
        <p:nvGrpSpPr>
          <p:cNvPr name="Group 21" id="21"/>
          <p:cNvGrpSpPr/>
          <p:nvPr/>
        </p:nvGrpSpPr>
        <p:grpSpPr>
          <a:xfrm rot="-5400000">
            <a:off x="9627403" y="3083597"/>
            <a:ext cx="5237726" cy="5616547"/>
            <a:chOff x="0" y="0"/>
            <a:chExt cx="607051" cy="6509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7051" cy="650956"/>
            </a:xfrm>
            <a:custGeom>
              <a:avLst/>
              <a:gdLst/>
              <a:ahLst/>
              <a:cxnLst/>
              <a:rect r="r" b="b" t="t" l="l"/>
              <a:pathLst>
                <a:path h="650956" w="607051">
                  <a:moveTo>
                    <a:pt x="28869" y="0"/>
                  </a:moveTo>
                  <a:lnTo>
                    <a:pt x="578181" y="0"/>
                  </a:lnTo>
                  <a:cubicBezTo>
                    <a:pt x="585838" y="0"/>
                    <a:pt x="593181" y="3042"/>
                    <a:pt x="598595" y="8456"/>
                  </a:cubicBezTo>
                  <a:cubicBezTo>
                    <a:pt x="604009" y="13870"/>
                    <a:pt x="607051" y="21213"/>
                    <a:pt x="607051" y="28869"/>
                  </a:cubicBezTo>
                  <a:lnTo>
                    <a:pt x="607051" y="622086"/>
                  </a:lnTo>
                  <a:cubicBezTo>
                    <a:pt x="607051" y="629743"/>
                    <a:pt x="604009" y="637086"/>
                    <a:pt x="598595" y="642500"/>
                  </a:cubicBezTo>
                  <a:cubicBezTo>
                    <a:pt x="593181" y="647914"/>
                    <a:pt x="585838" y="650956"/>
                    <a:pt x="578181" y="650956"/>
                  </a:cubicBezTo>
                  <a:lnTo>
                    <a:pt x="28869" y="650956"/>
                  </a:lnTo>
                  <a:cubicBezTo>
                    <a:pt x="21213" y="650956"/>
                    <a:pt x="13870" y="647914"/>
                    <a:pt x="8456" y="642500"/>
                  </a:cubicBezTo>
                  <a:cubicBezTo>
                    <a:pt x="3042" y="637086"/>
                    <a:pt x="0" y="629743"/>
                    <a:pt x="0" y="622086"/>
                  </a:cubicBezTo>
                  <a:lnTo>
                    <a:pt x="0" y="28869"/>
                  </a:lnTo>
                  <a:cubicBezTo>
                    <a:pt x="0" y="21213"/>
                    <a:pt x="3042" y="13870"/>
                    <a:pt x="8456" y="8456"/>
                  </a:cubicBezTo>
                  <a:cubicBezTo>
                    <a:pt x="13870" y="3042"/>
                    <a:pt x="21213" y="0"/>
                    <a:pt x="28869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07051" cy="69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197430" y="8091633"/>
            <a:ext cx="409767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727070"/>
                </a:solidFill>
                <a:latin typeface="210 토스트 Bold"/>
                <a:ea typeface="210 토스트 Bold"/>
                <a:cs typeface="210 토스트 Bold"/>
                <a:sym typeface="210 토스트 Bold"/>
              </a:rPr>
              <a:t>Limitations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33983" y="3853592"/>
            <a:ext cx="3178179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단순함과 속도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04871" y="4488180"/>
            <a:ext cx="3739391" cy="125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알고리즘이 쉽고 간결함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계산 속도가 빠름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→ 대용량 자료 효율적 처리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33983" y="5960745"/>
            <a:ext cx="3178179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직관성 및 범용성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04871" y="6495244"/>
            <a:ext cx="3739391" cy="167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내부 구조에 대한 사전정보 없이도 의미있는 분석 가능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→ 구형 군집, 평균 중심이 의미 있는 데이터에 적용 가능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45853" y="3369082"/>
            <a:ext cx="3178179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K값 사전 지정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61923" y="3909061"/>
            <a:ext cx="3352348" cy="83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K값이 Raw data 구조에 부적합 시 좋은 결과 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45853" y="4907280"/>
            <a:ext cx="3681335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이상값(Outlier)에 민감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61923" y="5484495"/>
            <a:ext cx="3933179" cy="83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중심점이 평균이기에 잡음이나 이상값에 취약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32937" y="6480809"/>
            <a:ext cx="3681335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 형태 한계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61923" y="7019924"/>
            <a:ext cx="3933179" cy="83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타원형이나 복잡한 기하학적 분포 데이터에 약함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552517" y="3190476"/>
            <a:ext cx="3832802" cy="3681779"/>
          </a:xfrm>
          <a:custGeom>
            <a:avLst/>
            <a:gdLst/>
            <a:ahLst/>
            <a:cxnLst/>
            <a:rect r="r" b="b" t="t" l="l"/>
            <a:pathLst>
              <a:path h="3681779" w="3832802">
                <a:moveTo>
                  <a:pt x="0" y="0"/>
                </a:moveTo>
                <a:lnTo>
                  <a:pt x="3832803" y="0"/>
                </a:lnTo>
                <a:lnTo>
                  <a:pt x="3832803" y="3681779"/>
                </a:lnTo>
                <a:lnTo>
                  <a:pt x="0" y="3681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27" t="-13576" r="-440551" b="-20478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1677106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 - 계층적 군집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73153" y="7472330"/>
            <a:ext cx="12341695" cy="438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558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위 사진과 같은 데이터 분포의 경우 K-means 는 적합한 결과 도출 X </a:t>
            </a:r>
            <a:r>
              <a:rPr lang="en-US" sz="2558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(데이터 형태의 한계)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604747" y="3190476"/>
            <a:ext cx="3914512" cy="3681779"/>
          </a:xfrm>
          <a:custGeom>
            <a:avLst/>
            <a:gdLst/>
            <a:ahLst/>
            <a:cxnLst/>
            <a:rect r="r" b="b" t="t" l="l"/>
            <a:pathLst>
              <a:path h="3681779" w="3914512">
                <a:moveTo>
                  <a:pt x="0" y="0"/>
                </a:moveTo>
                <a:lnTo>
                  <a:pt x="3914512" y="0"/>
                </a:lnTo>
                <a:lnTo>
                  <a:pt x="3914512" y="3681779"/>
                </a:lnTo>
                <a:lnTo>
                  <a:pt x="0" y="3681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660" t="-13808" r="-306224" b="-20220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897094" y="8286125"/>
            <a:ext cx="12341695" cy="53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2"/>
              </a:lnSpc>
            </a:pPr>
            <a:r>
              <a:rPr lang="en-US" b="true" sz="3058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=&gt; 다른 알고리즘 고려해야함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1677106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 - 계층적 군집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11108936" y="3723275"/>
            <a:ext cx="3021022" cy="6007777"/>
            <a:chOff x="0" y="0"/>
            <a:chExt cx="350135" cy="6962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0135" cy="696299"/>
            </a:xfrm>
            <a:custGeom>
              <a:avLst/>
              <a:gdLst/>
              <a:ahLst/>
              <a:cxnLst/>
              <a:rect r="r" b="b" t="t" l="l"/>
              <a:pathLst>
                <a:path h="696299" w="350135">
                  <a:moveTo>
                    <a:pt x="50052" y="0"/>
                  </a:moveTo>
                  <a:lnTo>
                    <a:pt x="300083" y="0"/>
                  </a:lnTo>
                  <a:cubicBezTo>
                    <a:pt x="313358" y="0"/>
                    <a:pt x="326089" y="5273"/>
                    <a:pt x="335475" y="14660"/>
                  </a:cubicBezTo>
                  <a:cubicBezTo>
                    <a:pt x="344862" y="24047"/>
                    <a:pt x="350135" y="36778"/>
                    <a:pt x="350135" y="50052"/>
                  </a:cubicBezTo>
                  <a:lnTo>
                    <a:pt x="350135" y="646247"/>
                  </a:lnTo>
                  <a:cubicBezTo>
                    <a:pt x="350135" y="659522"/>
                    <a:pt x="344862" y="672253"/>
                    <a:pt x="335475" y="681639"/>
                  </a:cubicBezTo>
                  <a:cubicBezTo>
                    <a:pt x="326089" y="691026"/>
                    <a:pt x="313358" y="696299"/>
                    <a:pt x="300083" y="696299"/>
                  </a:cubicBezTo>
                  <a:lnTo>
                    <a:pt x="50052" y="696299"/>
                  </a:lnTo>
                  <a:cubicBezTo>
                    <a:pt x="36778" y="696299"/>
                    <a:pt x="24047" y="691026"/>
                    <a:pt x="14660" y="681639"/>
                  </a:cubicBezTo>
                  <a:cubicBezTo>
                    <a:pt x="5273" y="672253"/>
                    <a:pt x="0" y="659522"/>
                    <a:pt x="0" y="646247"/>
                  </a:cubicBezTo>
                  <a:lnTo>
                    <a:pt x="0" y="50052"/>
                  </a:lnTo>
                  <a:cubicBezTo>
                    <a:pt x="0" y="36778"/>
                    <a:pt x="5273" y="24047"/>
                    <a:pt x="14660" y="14660"/>
                  </a:cubicBezTo>
                  <a:cubicBezTo>
                    <a:pt x="24047" y="5273"/>
                    <a:pt x="36778" y="0"/>
                    <a:pt x="50052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50135" cy="743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4082185" y="3605301"/>
            <a:ext cx="3058142" cy="6280845"/>
            <a:chOff x="0" y="0"/>
            <a:chExt cx="354438" cy="7279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4438" cy="727948"/>
            </a:xfrm>
            <a:custGeom>
              <a:avLst/>
              <a:gdLst/>
              <a:ahLst/>
              <a:cxnLst/>
              <a:rect r="r" b="b" t="t" l="l"/>
              <a:pathLst>
                <a:path h="727948" w="354438">
                  <a:moveTo>
                    <a:pt x="49445" y="0"/>
                  </a:moveTo>
                  <a:lnTo>
                    <a:pt x="304993" y="0"/>
                  </a:lnTo>
                  <a:cubicBezTo>
                    <a:pt x="332300" y="0"/>
                    <a:pt x="354438" y="22137"/>
                    <a:pt x="354438" y="49445"/>
                  </a:cubicBezTo>
                  <a:lnTo>
                    <a:pt x="354438" y="678503"/>
                  </a:lnTo>
                  <a:cubicBezTo>
                    <a:pt x="354438" y="705810"/>
                    <a:pt x="332300" y="727948"/>
                    <a:pt x="304993" y="727948"/>
                  </a:cubicBezTo>
                  <a:lnTo>
                    <a:pt x="49445" y="727948"/>
                  </a:lnTo>
                  <a:cubicBezTo>
                    <a:pt x="22137" y="727948"/>
                    <a:pt x="0" y="705810"/>
                    <a:pt x="0" y="678503"/>
                  </a:cubicBezTo>
                  <a:lnTo>
                    <a:pt x="0" y="49445"/>
                  </a:lnTo>
                  <a:cubicBezTo>
                    <a:pt x="0" y="22137"/>
                    <a:pt x="22137" y="0"/>
                    <a:pt x="49445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54438" cy="775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790624" y="5722295"/>
            <a:ext cx="5641264" cy="209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데이터로 주어진 모든 개체끼리의 유사도 계산</a:t>
            </a:r>
          </a:p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유사도가 가장 높은 두 개체를 하나의 군집으로 묶음</a:t>
            </a:r>
          </a:p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같은 과정 반복 Tree 형태로 최종 군집화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75656" y="5733090"/>
            <a:ext cx="4780288" cy="106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 개수를 처음에 확정 X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 간 관계 계층적 해석 가능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dendrogram으로 병합 구조 시각화</a:t>
            </a:r>
          </a:p>
        </p:txBody>
      </p:sp>
      <p:grpSp>
        <p:nvGrpSpPr>
          <p:cNvPr name="Group 25" id="25"/>
          <p:cNvGrpSpPr/>
          <p:nvPr/>
        </p:nvGrpSpPr>
        <p:grpSpPr>
          <a:xfrm rot="-5400000">
            <a:off x="3827627" y="1537529"/>
            <a:ext cx="1054779" cy="3768366"/>
            <a:chOff x="0" y="0"/>
            <a:chExt cx="117237" cy="4188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7237" cy="418846"/>
            </a:xfrm>
            <a:custGeom>
              <a:avLst/>
              <a:gdLst/>
              <a:ahLst/>
              <a:cxnLst/>
              <a:rect r="r" b="b" t="t" l="l"/>
              <a:pathLst>
                <a:path h="418846" w="117237">
                  <a:moveTo>
                    <a:pt x="58618" y="0"/>
                  </a:moveTo>
                  <a:lnTo>
                    <a:pt x="58618" y="0"/>
                  </a:lnTo>
                  <a:cubicBezTo>
                    <a:pt x="90992" y="0"/>
                    <a:pt x="117237" y="26244"/>
                    <a:pt x="117237" y="58618"/>
                  </a:cubicBezTo>
                  <a:lnTo>
                    <a:pt x="117237" y="360228"/>
                  </a:lnTo>
                  <a:cubicBezTo>
                    <a:pt x="117237" y="392602"/>
                    <a:pt x="90992" y="418846"/>
                    <a:pt x="58618" y="418846"/>
                  </a:cubicBezTo>
                  <a:lnTo>
                    <a:pt x="58618" y="418846"/>
                  </a:lnTo>
                  <a:cubicBezTo>
                    <a:pt x="26244" y="418846"/>
                    <a:pt x="0" y="392602"/>
                    <a:pt x="0" y="360228"/>
                  </a:cubicBezTo>
                  <a:lnTo>
                    <a:pt x="0" y="58618"/>
                  </a:lnTo>
                  <a:cubicBezTo>
                    <a:pt x="0" y="26244"/>
                    <a:pt x="26244" y="0"/>
                    <a:pt x="58618" y="0"/>
                  </a:cubicBezTo>
                  <a:close/>
                </a:path>
              </a:pathLst>
            </a:custGeom>
            <a:solidFill>
              <a:srgbClr val="D1E0F1">
                <a:alpha val="6000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17237" cy="466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712575" y="2945500"/>
            <a:ext cx="3284883" cy="8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9"/>
              </a:lnSpc>
              <a:spcBef>
                <a:spcPct val="0"/>
              </a:spcBef>
            </a:pPr>
            <a:r>
              <a:rPr lang="en-US" b="true" sz="4877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계층적 군집</a:t>
            </a:r>
          </a:p>
        </p:txBody>
      </p:sp>
      <p:grpSp>
        <p:nvGrpSpPr>
          <p:cNvPr name="Group 29" id="29"/>
          <p:cNvGrpSpPr/>
          <p:nvPr/>
        </p:nvGrpSpPr>
        <p:grpSpPr>
          <a:xfrm rot="-5400000">
            <a:off x="10603801" y="-1025498"/>
            <a:ext cx="992485" cy="8894421"/>
            <a:chOff x="0" y="0"/>
            <a:chExt cx="115029" cy="10308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029" cy="1030860"/>
            </a:xfrm>
            <a:custGeom>
              <a:avLst/>
              <a:gdLst/>
              <a:ahLst/>
              <a:cxnLst/>
              <a:rect r="r" b="b" t="t" l="l"/>
              <a:pathLst>
                <a:path h="1030860" w="115029">
                  <a:moveTo>
                    <a:pt x="57514" y="0"/>
                  </a:moveTo>
                  <a:lnTo>
                    <a:pt x="57514" y="0"/>
                  </a:lnTo>
                  <a:cubicBezTo>
                    <a:pt x="72768" y="0"/>
                    <a:pt x="87397" y="6060"/>
                    <a:pt x="98183" y="16846"/>
                  </a:cubicBezTo>
                  <a:cubicBezTo>
                    <a:pt x="108969" y="27632"/>
                    <a:pt x="115029" y="42261"/>
                    <a:pt x="115029" y="57514"/>
                  </a:cubicBezTo>
                  <a:lnTo>
                    <a:pt x="115029" y="973346"/>
                  </a:lnTo>
                  <a:cubicBezTo>
                    <a:pt x="115029" y="988600"/>
                    <a:pt x="108969" y="1003229"/>
                    <a:pt x="98183" y="1014015"/>
                  </a:cubicBezTo>
                  <a:cubicBezTo>
                    <a:pt x="87397" y="1024801"/>
                    <a:pt x="72768" y="1030860"/>
                    <a:pt x="57514" y="1030860"/>
                  </a:cubicBezTo>
                  <a:lnTo>
                    <a:pt x="57514" y="1030860"/>
                  </a:lnTo>
                  <a:cubicBezTo>
                    <a:pt x="42261" y="1030860"/>
                    <a:pt x="27632" y="1024801"/>
                    <a:pt x="16846" y="1014015"/>
                  </a:cubicBezTo>
                  <a:cubicBezTo>
                    <a:pt x="6060" y="1003229"/>
                    <a:pt x="0" y="988600"/>
                    <a:pt x="0" y="973346"/>
                  </a:cubicBezTo>
                  <a:lnTo>
                    <a:pt x="0" y="57514"/>
                  </a:lnTo>
                  <a:cubicBezTo>
                    <a:pt x="0" y="42261"/>
                    <a:pt x="6060" y="27632"/>
                    <a:pt x="16846" y="16846"/>
                  </a:cubicBezTo>
                  <a:cubicBezTo>
                    <a:pt x="27632" y="6060"/>
                    <a:pt x="42261" y="0"/>
                    <a:pt x="57514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15029" cy="107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875383" y="2958760"/>
            <a:ext cx="8449322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가장 </a:t>
            </a:r>
            <a:r>
              <a:rPr lang="en-US" b="true" sz="2400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유사한 개체를 묶어 나가는 과정을 반복</a:t>
            </a: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하여 원하는 개수의 군집을 형성하는 방법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70834" y="4368826"/>
            <a:ext cx="4812832" cy="59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7"/>
              </a:lnSpc>
              <a:spcBef>
                <a:spcPct val="0"/>
              </a:spcBef>
            </a:pPr>
            <a:r>
              <a:rPr lang="en-US" b="true" sz="33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How clustering works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54794" y="4368826"/>
            <a:ext cx="5253597" cy="59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7"/>
              </a:lnSpc>
              <a:spcBef>
                <a:spcPct val="0"/>
              </a:spcBef>
            </a:pPr>
            <a:r>
              <a:rPr lang="en-US" b="true" sz="33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Strengths &amp; Limitations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75656" y="7266042"/>
            <a:ext cx="4232735" cy="71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대용량에서는 계산 부담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linkage 선택에 따라 결과 차이 큼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28103" y="6845006"/>
            <a:ext cx="4780288" cy="38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단점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28103" y="5311387"/>
            <a:ext cx="4780288" cy="38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장점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75188" y="798634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1677106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 - 계층적 군집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11317552" y="1245819"/>
            <a:ext cx="834466" cy="8321420"/>
            <a:chOff x="0" y="0"/>
            <a:chExt cx="96714" cy="9644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714" cy="964450"/>
            </a:xfrm>
            <a:custGeom>
              <a:avLst/>
              <a:gdLst/>
              <a:ahLst/>
              <a:cxnLst/>
              <a:rect r="r" b="b" t="t" l="l"/>
              <a:pathLst>
                <a:path h="964450" w="96714">
                  <a:moveTo>
                    <a:pt x="48357" y="0"/>
                  </a:moveTo>
                  <a:lnTo>
                    <a:pt x="48357" y="0"/>
                  </a:lnTo>
                  <a:cubicBezTo>
                    <a:pt x="61182" y="0"/>
                    <a:pt x="73482" y="5095"/>
                    <a:pt x="82551" y="14163"/>
                  </a:cubicBezTo>
                  <a:cubicBezTo>
                    <a:pt x="91620" y="23232"/>
                    <a:pt x="96714" y="35532"/>
                    <a:pt x="96714" y="48357"/>
                  </a:cubicBezTo>
                  <a:lnTo>
                    <a:pt x="96714" y="916092"/>
                  </a:lnTo>
                  <a:cubicBezTo>
                    <a:pt x="96714" y="942799"/>
                    <a:pt x="75064" y="964450"/>
                    <a:pt x="48357" y="964450"/>
                  </a:cubicBezTo>
                  <a:lnTo>
                    <a:pt x="48357" y="964450"/>
                  </a:lnTo>
                  <a:cubicBezTo>
                    <a:pt x="21650" y="964450"/>
                    <a:pt x="0" y="942799"/>
                    <a:pt x="0" y="916092"/>
                  </a:cubicBezTo>
                  <a:lnTo>
                    <a:pt x="0" y="48357"/>
                  </a:lnTo>
                  <a:cubicBezTo>
                    <a:pt x="0" y="21650"/>
                    <a:pt x="21650" y="0"/>
                    <a:pt x="48357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6714" cy="101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1346701" y="94929"/>
            <a:ext cx="776167" cy="8321420"/>
            <a:chOff x="0" y="0"/>
            <a:chExt cx="80728" cy="8654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728" cy="865499"/>
            </a:xfrm>
            <a:custGeom>
              <a:avLst/>
              <a:gdLst/>
              <a:ahLst/>
              <a:cxnLst/>
              <a:rect r="r" b="b" t="t" l="l"/>
              <a:pathLst>
                <a:path h="865499" w="80728">
                  <a:moveTo>
                    <a:pt x="40364" y="0"/>
                  </a:moveTo>
                  <a:lnTo>
                    <a:pt x="40364" y="0"/>
                  </a:lnTo>
                  <a:cubicBezTo>
                    <a:pt x="62656" y="0"/>
                    <a:pt x="80728" y="18072"/>
                    <a:pt x="80728" y="40364"/>
                  </a:cubicBezTo>
                  <a:lnTo>
                    <a:pt x="80728" y="825135"/>
                  </a:lnTo>
                  <a:cubicBezTo>
                    <a:pt x="80728" y="847427"/>
                    <a:pt x="62656" y="865499"/>
                    <a:pt x="40364" y="865499"/>
                  </a:cubicBezTo>
                  <a:lnTo>
                    <a:pt x="40364" y="865499"/>
                  </a:lnTo>
                  <a:cubicBezTo>
                    <a:pt x="29659" y="865499"/>
                    <a:pt x="19392" y="861246"/>
                    <a:pt x="11822" y="853677"/>
                  </a:cubicBezTo>
                  <a:cubicBezTo>
                    <a:pt x="4253" y="846107"/>
                    <a:pt x="0" y="835840"/>
                    <a:pt x="0" y="825135"/>
                  </a:cubicBezTo>
                  <a:lnTo>
                    <a:pt x="0" y="40364"/>
                  </a:lnTo>
                  <a:cubicBezTo>
                    <a:pt x="0" y="29659"/>
                    <a:pt x="4253" y="19392"/>
                    <a:pt x="11822" y="11822"/>
                  </a:cubicBezTo>
                  <a:cubicBezTo>
                    <a:pt x="19392" y="4253"/>
                    <a:pt x="29659" y="0"/>
                    <a:pt x="40364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0728" cy="913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4412137" y="1894412"/>
            <a:ext cx="776167" cy="4722454"/>
            <a:chOff x="0" y="0"/>
            <a:chExt cx="80728" cy="4911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728" cy="491176"/>
            </a:xfrm>
            <a:custGeom>
              <a:avLst/>
              <a:gdLst/>
              <a:ahLst/>
              <a:cxnLst/>
              <a:rect r="r" b="b" t="t" l="l"/>
              <a:pathLst>
                <a:path h="491176" w="80728">
                  <a:moveTo>
                    <a:pt x="40364" y="0"/>
                  </a:moveTo>
                  <a:lnTo>
                    <a:pt x="40364" y="0"/>
                  </a:lnTo>
                  <a:cubicBezTo>
                    <a:pt x="62656" y="0"/>
                    <a:pt x="80728" y="18072"/>
                    <a:pt x="80728" y="40364"/>
                  </a:cubicBezTo>
                  <a:lnTo>
                    <a:pt x="80728" y="450812"/>
                  </a:lnTo>
                  <a:cubicBezTo>
                    <a:pt x="80728" y="461517"/>
                    <a:pt x="76475" y="471784"/>
                    <a:pt x="68906" y="479353"/>
                  </a:cubicBezTo>
                  <a:cubicBezTo>
                    <a:pt x="61336" y="486923"/>
                    <a:pt x="51069" y="491176"/>
                    <a:pt x="40364" y="491176"/>
                  </a:cubicBezTo>
                  <a:lnTo>
                    <a:pt x="40364" y="491176"/>
                  </a:lnTo>
                  <a:cubicBezTo>
                    <a:pt x="29659" y="491176"/>
                    <a:pt x="19392" y="486923"/>
                    <a:pt x="11822" y="479353"/>
                  </a:cubicBezTo>
                  <a:cubicBezTo>
                    <a:pt x="4253" y="471784"/>
                    <a:pt x="0" y="461517"/>
                    <a:pt x="0" y="450812"/>
                  </a:cubicBezTo>
                  <a:lnTo>
                    <a:pt x="0" y="40364"/>
                  </a:lnTo>
                  <a:cubicBezTo>
                    <a:pt x="0" y="29659"/>
                    <a:pt x="4253" y="19392"/>
                    <a:pt x="11822" y="11822"/>
                  </a:cubicBezTo>
                  <a:cubicBezTo>
                    <a:pt x="19392" y="4253"/>
                    <a:pt x="29659" y="0"/>
                    <a:pt x="40364" y="0"/>
                  </a:cubicBezTo>
                  <a:close/>
                </a:path>
              </a:pathLst>
            </a:custGeom>
            <a:solidFill>
              <a:srgbClr val="F2F8FF">
                <a:alpha val="6000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0728" cy="538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684475" y="4020578"/>
            <a:ext cx="4240812" cy="42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b="true" sz="24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단일 연결법 (Single Linkage)</a:t>
            </a:r>
          </a:p>
        </p:txBody>
      </p:sp>
      <p:grpSp>
        <p:nvGrpSpPr>
          <p:cNvPr name="Group 27" id="27"/>
          <p:cNvGrpSpPr/>
          <p:nvPr/>
        </p:nvGrpSpPr>
        <p:grpSpPr>
          <a:xfrm rot="-5400000">
            <a:off x="4412137" y="3093020"/>
            <a:ext cx="776167" cy="4722454"/>
            <a:chOff x="0" y="0"/>
            <a:chExt cx="80728" cy="4911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728" cy="491176"/>
            </a:xfrm>
            <a:custGeom>
              <a:avLst/>
              <a:gdLst/>
              <a:ahLst/>
              <a:cxnLst/>
              <a:rect r="r" b="b" t="t" l="l"/>
              <a:pathLst>
                <a:path h="491176" w="80728">
                  <a:moveTo>
                    <a:pt x="40364" y="0"/>
                  </a:moveTo>
                  <a:lnTo>
                    <a:pt x="40364" y="0"/>
                  </a:lnTo>
                  <a:cubicBezTo>
                    <a:pt x="62656" y="0"/>
                    <a:pt x="80728" y="18072"/>
                    <a:pt x="80728" y="40364"/>
                  </a:cubicBezTo>
                  <a:lnTo>
                    <a:pt x="80728" y="450812"/>
                  </a:lnTo>
                  <a:cubicBezTo>
                    <a:pt x="80728" y="461517"/>
                    <a:pt x="76475" y="471784"/>
                    <a:pt x="68906" y="479353"/>
                  </a:cubicBezTo>
                  <a:cubicBezTo>
                    <a:pt x="61336" y="486923"/>
                    <a:pt x="51069" y="491176"/>
                    <a:pt x="40364" y="491176"/>
                  </a:cubicBezTo>
                  <a:lnTo>
                    <a:pt x="40364" y="491176"/>
                  </a:lnTo>
                  <a:cubicBezTo>
                    <a:pt x="29659" y="491176"/>
                    <a:pt x="19392" y="486923"/>
                    <a:pt x="11822" y="479353"/>
                  </a:cubicBezTo>
                  <a:cubicBezTo>
                    <a:pt x="4253" y="471784"/>
                    <a:pt x="0" y="461517"/>
                    <a:pt x="0" y="450812"/>
                  </a:cubicBezTo>
                  <a:lnTo>
                    <a:pt x="0" y="40364"/>
                  </a:lnTo>
                  <a:cubicBezTo>
                    <a:pt x="0" y="29659"/>
                    <a:pt x="4253" y="19392"/>
                    <a:pt x="11822" y="11822"/>
                  </a:cubicBezTo>
                  <a:cubicBezTo>
                    <a:pt x="19392" y="4253"/>
                    <a:pt x="29659" y="0"/>
                    <a:pt x="40364" y="0"/>
                  </a:cubicBezTo>
                  <a:close/>
                </a:path>
              </a:pathLst>
            </a:custGeom>
            <a:solidFill>
              <a:srgbClr val="F2F8FF">
                <a:alpha val="6000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0728" cy="538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637243" y="5226283"/>
            <a:ext cx="4406124" cy="41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b="true" sz="23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완전 연결법 (Complete Linkage)</a:t>
            </a:r>
          </a:p>
        </p:txBody>
      </p:sp>
      <p:grpSp>
        <p:nvGrpSpPr>
          <p:cNvPr name="Group 31" id="31"/>
          <p:cNvGrpSpPr/>
          <p:nvPr/>
        </p:nvGrpSpPr>
        <p:grpSpPr>
          <a:xfrm rot="-5400000">
            <a:off x="4492306" y="4222668"/>
            <a:ext cx="776167" cy="4722454"/>
            <a:chOff x="0" y="0"/>
            <a:chExt cx="80728" cy="4911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728" cy="491176"/>
            </a:xfrm>
            <a:custGeom>
              <a:avLst/>
              <a:gdLst/>
              <a:ahLst/>
              <a:cxnLst/>
              <a:rect r="r" b="b" t="t" l="l"/>
              <a:pathLst>
                <a:path h="491176" w="80728">
                  <a:moveTo>
                    <a:pt x="40364" y="0"/>
                  </a:moveTo>
                  <a:lnTo>
                    <a:pt x="40364" y="0"/>
                  </a:lnTo>
                  <a:cubicBezTo>
                    <a:pt x="62656" y="0"/>
                    <a:pt x="80728" y="18072"/>
                    <a:pt x="80728" y="40364"/>
                  </a:cubicBezTo>
                  <a:lnTo>
                    <a:pt x="80728" y="450812"/>
                  </a:lnTo>
                  <a:cubicBezTo>
                    <a:pt x="80728" y="461517"/>
                    <a:pt x="76475" y="471784"/>
                    <a:pt x="68906" y="479353"/>
                  </a:cubicBezTo>
                  <a:cubicBezTo>
                    <a:pt x="61336" y="486923"/>
                    <a:pt x="51069" y="491176"/>
                    <a:pt x="40364" y="491176"/>
                  </a:cubicBezTo>
                  <a:lnTo>
                    <a:pt x="40364" y="491176"/>
                  </a:lnTo>
                  <a:cubicBezTo>
                    <a:pt x="29659" y="491176"/>
                    <a:pt x="19392" y="486923"/>
                    <a:pt x="11822" y="479353"/>
                  </a:cubicBezTo>
                  <a:cubicBezTo>
                    <a:pt x="4253" y="471784"/>
                    <a:pt x="0" y="461517"/>
                    <a:pt x="0" y="450812"/>
                  </a:cubicBezTo>
                  <a:lnTo>
                    <a:pt x="0" y="40364"/>
                  </a:lnTo>
                  <a:cubicBezTo>
                    <a:pt x="0" y="29659"/>
                    <a:pt x="4253" y="19392"/>
                    <a:pt x="11822" y="11822"/>
                  </a:cubicBezTo>
                  <a:cubicBezTo>
                    <a:pt x="19392" y="4253"/>
                    <a:pt x="29659" y="0"/>
                    <a:pt x="40364" y="0"/>
                  </a:cubicBezTo>
                  <a:close/>
                </a:path>
              </a:pathLst>
            </a:custGeom>
            <a:solidFill>
              <a:srgbClr val="F2F8FF">
                <a:alpha val="6000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80728" cy="538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601819" y="6348835"/>
            <a:ext cx="4476972" cy="42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b="true" sz="24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평균 연결법 (Average Linkage)</a:t>
            </a:r>
          </a:p>
        </p:txBody>
      </p:sp>
      <p:grpSp>
        <p:nvGrpSpPr>
          <p:cNvPr name="Group 35" id="35"/>
          <p:cNvGrpSpPr/>
          <p:nvPr/>
        </p:nvGrpSpPr>
        <p:grpSpPr>
          <a:xfrm rot="-5400000">
            <a:off x="11317552" y="2423186"/>
            <a:ext cx="834466" cy="8321420"/>
            <a:chOff x="0" y="0"/>
            <a:chExt cx="96714" cy="9644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714" cy="964450"/>
            </a:xfrm>
            <a:custGeom>
              <a:avLst/>
              <a:gdLst/>
              <a:ahLst/>
              <a:cxnLst/>
              <a:rect r="r" b="b" t="t" l="l"/>
              <a:pathLst>
                <a:path h="964450" w="96714">
                  <a:moveTo>
                    <a:pt x="48357" y="0"/>
                  </a:moveTo>
                  <a:lnTo>
                    <a:pt x="48357" y="0"/>
                  </a:lnTo>
                  <a:cubicBezTo>
                    <a:pt x="61182" y="0"/>
                    <a:pt x="73482" y="5095"/>
                    <a:pt x="82551" y="14163"/>
                  </a:cubicBezTo>
                  <a:cubicBezTo>
                    <a:pt x="91620" y="23232"/>
                    <a:pt x="96714" y="35532"/>
                    <a:pt x="96714" y="48357"/>
                  </a:cubicBezTo>
                  <a:lnTo>
                    <a:pt x="96714" y="916092"/>
                  </a:lnTo>
                  <a:cubicBezTo>
                    <a:pt x="96714" y="942799"/>
                    <a:pt x="75064" y="964450"/>
                    <a:pt x="48357" y="964450"/>
                  </a:cubicBezTo>
                  <a:lnTo>
                    <a:pt x="48357" y="964450"/>
                  </a:lnTo>
                  <a:cubicBezTo>
                    <a:pt x="21650" y="964450"/>
                    <a:pt x="0" y="942799"/>
                    <a:pt x="0" y="916092"/>
                  </a:cubicBezTo>
                  <a:lnTo>
                    <a:pt x="0" y="48357"/>
                  </a:lnTo>
                  <a:cubicBezTo>
                    <a:pt x="0" y="21650"/>
                    <a:pt x="21650" y="0"/>
                    <a:pt x="48357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6714" cy="101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993451" y="4027674"/>
            <a:ext cx="748266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서로 다른 그룹의 점 사이의 거리의 </a:t>
            </a:r>
            <a:r>
              <a:rPr lang="en-US" sz="2300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최솟값</a:t>
            </a: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을 유사도로 간주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993451" y="5226283"/>
            <a:ext cx="748266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서로 다른 그룹의 점 사이의 거리의 </a:t>
            </a:r>
            <a:r>
              <a:rPr lang="en-US" sz="2300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최댓값</a:t>
            </a: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을 유사도로 간주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993451" y="6372552"/>
            <a:ext cx="748266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서로 다른 그룹의 점 사이의 거리의 </a:t>
            </a:r>
            <a:r>
              <a:rPr lang="en-US" sz="2300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평균값</a:t>
            </a: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을 유사도로 간주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354561" y="2795794"/>
            <a:ext cx="7307176" cy="424180"/>
            <a:chOff x="0" y="0"/>
            <a:chExt cx="9742901" cy="565573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121451"/>
              <a:ext cx="322671" cy="322671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39700" y="63500"/>
                <a:ext cx="5334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568309" y="-76200"/>
              <a:ext cx="9174592" cy="641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Linkage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-5400000">
            <a:off x="4492306" y="5351260"/>
            <a:ext cx="776167" cy="4722454"/>
            <a:chOff x="0" y="0"/>
            <a:chExt cx="80728" cy="4911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0728" cy="491176"/>
            </a:xfrm>
            <a:custGeom>
              <a:avLst/>
              <a:gdLst/>
              <a:ahLst/>
              <a:cxnLst/>
              <a:rect r="r" b="b" t="t" l="l"/>
              <a:pathLst>
                <a:path h="491176" w="80728">
                  <a:moveTo>
                    <a:pt x="40364" y="0"/>
                  </a:moveTo>
                  <a:lnTo>
                    <a:pt x="40364" y="0"/>
                  </a:lnTo>
                  <a:cubicBezTo>
                    <a:pt x="62656" y="0"/>
                    <a:pt x="80728" y="18072"/>
                    <a:pt x="80728" y="40364"/>
                  </a:cubicBezTo>
                  <a:lnTo>
                    <a:pt x="80728" y="450812"/>
                  </a:lnTo>
                  <a:cubicBezTo>
                    <a:pt x="80728" y="461517"/>
                    <a:pt x="76475" y="471784"/>
                    <a:pt x="68906" y="479353"/>
                  </a:cubicBezTo>
                  <a:cubicBezTo>
                    <a:pt x="61336" y="486923"/>
                    <a:pt x="51069" y="491176"/>
                    <a:pt x="40364" y="491176"/>
                  </a:cubicBezTo>
                  <a:lnTo>
                    <a:pt x="40364" y="491176"/>
                  </a:lnTo>
                  <a:cubicBezTo>
                    <a:pt x="29659" y="491176"/>
                    <a:pt x="19392" y="486923"/>
                    <a:pt x="11822" y="479353"/>
                  </a:cubicBezTo>
                  <a:cubicBezTo>
                    <a:pt x="4253" y="471784"/>
                    <a:pt x="0" y="461517"/>
                    <a:pt x="0" y="450812"/>
                  </a:cubicBezTo>
                  <a:lnTo>
                    <a:pt x="0" y="40364"/>
                  </a:lnTo>
                  <a:cubicBezTo>
                    <a:pt x="0" y="29659"/>
                    <a:pt x="4253" y="19392"/>
                    <a:pt x="11822" y="11822"/>
                  </a:cubicBezTo>
                  <a:cubicBezTo>
                    <a:pt x="19392" y="4253"/>
                    <a:pt x="29659" y="0"/>
                    <a:pt x="40364" y="0"/>
                  </a:cubicBezTo>
                  <a:close/>
                </a:path>
              </a:pathLst>
            </a:custGeom>
            <a:solidFill>
              <a:srgbClr val="F2F8FF">
                <a:alpha val="6000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0728" cy="538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641903" y="7476804"/>
            <a:ext cx="4476972" cy="42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b="true" sz="24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와드 연결법 (Ward Linkage)</a:t>
            </a:r>
          </a:p>
        </p:txBody>
      </p:sp>
      <p:grpSp>
        <p:nvGrpSpPr>
          <p:cNvPr name="Group 50" id="50"/>
          <p:cNvGrpSpPr/>
          <p:nvPr/>
        </p:nvGrpSpPr>
        <p:grpSpPr>
          <a:xfrm rot="-5400000">
            <a:off x="11317552" y="3522628"/>
            <a:ext cx="834466" cy="8321420"/>
            <a:chOff x="0" y="0"/>
            <a:chExt cx="96714" cy="9644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6714" cy="964450"/>
            </a:xfrm>
            <a:custGeom>
              <a:avLst/>
              <a:gdLst/>
              <a:ahLst/>
              <a:cxnLst/>
              <a:rect r="r" b="b" t="t" l="l"/>
              <a:pathLst>
                <a:path h="964450" w="96714">
                  <a:moveTo>
                    <a:pt x="48357" y="0"/>
                  </a:moveTo>
                  <a:lnTo>
                    <a:pt x="48357" y="0"/>
                  </a:lnTo>
                  <a:cubicBezTo>
                    <a:pt x="61182" y="0"/>
                    <a:pt x="73482" y="5095"/>
                    <a:pt x="82551" y="14163"/>
                  </a:cubicBezTo>
                  <a:cubicBezTo>
                    <a:pt x="91620" y="23232"/>
                    <a:pt x="96714" y="35532"/>
                    <a:pt x="96714" y="48357"/>
                  </a:cubicBezTo>
                  <a:lnTo>
                    <a:pt x="96714" y="916092"/>
                  </a:lnTo>
                  <a:cubicBezTo>
                    <a:pt x="96714" y="942799"/>
                    <a:pt x="75064" y="964450"/>
                    <a:pt x="48357" y="964450"/>
                  </a:cubicBezTo>
                  <a:lnTo>
                    <a:pt x="48357" y="964450"/>
                  </a:lnTo>
                  <a:cubicBezTo>
                    <a:pt x="21650" y="964450"/>
                    <a:pt x="0" y="942799"/>
                    <a:pt x="0" y="916092"/>
                  </a:cubicBezTo>
                  <a:lnTo>
                    <a:pt x="0" y="48357"/>
                  </a:lnTo>
                  <a:cubicBezTo>
                    <a:pt x="0" y="21650"/>
                    <a:pt x="21650" y="0"/>
                    <a:pt x="48357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6714" cy="101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7993451" y="7471994"/>
            <a:ext cx="7482668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 병합 시 </a:t>
            </a:r>
            <a:r>
              <a:rPr lang="en-US" sz="2300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 내 분산 증가를 최소</a:t>
            </a:r>
            <a:r>
              <a:rPr lang="en-US" sz="23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가 되도록 결합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615290" y="3486674"/>
            <a:ext cx="5234173" cy="5538807"/>
          </a:xfrm>
          <a:custGeom>
            <a:avLst/>
            <a:gdLst/>
            <a:ahLst/>
            <a:cxnLst/>
            <a:rect r="r" b="b" t="t" l="l"/>
            <a:pathLst>
              <a:path h="5538807" w="5234173">
                <a:moveTo>
                  <a:pt x="0" y="0"/>
                </a:moveTo>
                <a:lnTo>
                  <a:pt x="5234173" y="0"/>
                </a:lnTo>
                <a:lnTo>
                  <a:pt x="5234173" y="5538807"/>
                </a:lnTo>
                <a:lnTo>
                  <a:pt x="0" y="5538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1820004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 - 계층적 군집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354561" y="2795794"/>
            <a:ext cx="7307176" cy="424180"/>
            <a:chOff x="0" y="0"/>
            <a:chExt cx="9742901" cy="56557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121451"/>
              <a:ext cx="322671" cy="3226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39700" y="63500"/>
                <a:ext cx="5334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68309" y="-76200"/>
              <a:ext cx="9174592" cy="641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Linkage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578348" y="4342470"/>
            <a:ext cx="7591596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단일 연결법은</a:t>
            </a:r>
            <a:r>
              <a:rPr lang="en-US" b="true" sz="24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가장 가까운 점을 기준으로 군집을 병합하므로, 사슬처럼 긴 군집이 형성되기 쉽고 노이즈에 민감하다. 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Ward 연결법은 군집 내 분산 증가를 최소화하는 방향으로 병합하여 비교적 균형 잡힌 군집을 형성한다.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평균 연결법은 비유클리드 거리 사용이 가능해 Ward의 대안으로 활용될 수 있다.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40879" y="3486674"/>
            <a:ext cx="6795158" cy="5470765"/>
          </a:xfrm>
          <a:custGeom>
            <a:avLst/>
            <a:gdLst/>
            <a:ahLst/>
            <a:cxnLst/>
            <a:rect r="r" b="b" t="t" l="l"/>
            <a:pathLst>
              <a:path h="5470765" w="6795158">
                <a:moveTo>
                  <a:pt x="0" y="0"/>
                </a:moveTo>
                <a:lnTo>
                  <a:pt x="6795159" y="0"/>
                </a:lnTo>
                <a:lnTo>
                  <a:pt x="6795159" y="5470764"/>
                </a:lnTo>
                <a:lnTo>
                  <a:pt x="0" y="5470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354561" y="2795794"/>
            <a:ext cx="7307176" cy="424180"/>
            <a:chOff x="0" y="0"/>
            <a:chExt cx="9742901" cy="56557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121451"/>
              <a:ext cx="322671" cy="3226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E647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39700" y="63500"/>
                <a:ext cx="533400" cy="60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68309" y="-76200"/>
              <a:ext cx="9174592" cy="641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72707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Dendrogram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514677" y="6486254"/>
            <a:ext cx="6986730" cy="79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=&gt; 특정 높이에서 덴드로그램을 잘라서 높이에 대응하는 군집 개수를 결정함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20559" y="5066445"/>
            <a:ext cx="728084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Dendrogram : 군집 병합 과정을 보여주는 계층적 트리</a:t>
            </a:r>
          </a:p>
          <a:p>
            <a:pPr algn="l" marL="496569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Height : 군집 간 거리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1677106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 - DBSCAN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11108936" y="3723275"/>
            <a:ext cx="3021022" cy="6007777"/>
            <a:chOff x="0" y="0"/>
            <a:chExt cx="350135" cy="6962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0135" cy="696299"/>
            </a:xfrm>
            <a:custGeom>
              <a:avLst/>
              <a:gdLst/>
              <a:ahLst/>
              <a:cxnLst/>
              <a:rect r="r" b="b" t="t" l="l"/>
              <a:pathLst>
                <a:path h="696299" w="350135">
                  <a:moveTo>
                    <a:pt x="50052" y="0"/>
                  </a:moveTo>
                  <a:lnTo>
                    <a:pt x="300083" y="0"/>
                  </a:lnTo>
                  <a:cubicBezTo>
                    <a:pt x="313358" y="0"/>
                    <a:pt x="326089" y="5273"/>
                    <a:pt x="335475" y="14660"/>
                  </a:cubicBezTo>
                  <a:cubicBezTo>
                    <a:pt x="344862" y="24047"/>
                    <a:pt x="350135" y="36778"/>
                    <a:pt x="350135" y="50052"/>
                  </a:cubicBezTo>
                  <a:lnTo>
                    <a:pt x="350135" y="646247"/>
                  </a:lnTo>
                  <a:cubicBezTo>
                    <a:pt x="350135" y="659522"/>
                    <a:pt x="344862" y="672253"/>
                    <a:pt x="335475" y="681639"/>
                  </a:cubicBezTo>
                  <a:cubicBezTo>
                    <a:pt x="326089" y="691026"/>
                    <a:pt x="313358" y="696299"/>
                    <a:pt x="300083" y="696299"/>
                  </a:cubicBezTo>
                  <a:lnTo>
                    <a:pt x="50052" y="696299"/>
                  </a:lnTo>
                  <a:cubicBezTo>
                    <a:pt x="36778" y="696299"/>
                    <a:pt x="24047" y="691026"/>
                    <a:pt x="14660" y="681639"/>
                  </a:cubicBezTo>
                  <a:cubicBezTo>
                    <a:pt x="5273" y="672253"/>
                    <a:pt x="0" y="659522"/>
                    <a:pt x="0" y="646247"/>
                  </a:cubicBezTo>
                  <a:lnTo>
                    <a:pt x="0" y="50052"/>
                  </a:lnTo>
                  <a:cubicBezTo>
                    <a:pt x="0" y="36778"/>
                    <a:pt x="5273" y="24047"/>
                    <a:pt x="14660" y="14660"/>
                  </a:cubicBezTo>
                  <a:cubicBezTo>
                    <a:pt x="24047" y="5273"/>
                    <a:pt x="36778" y="0"/>
                    <a:pt x="50052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50135" cy="743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3944104" y="3743383"/>
            <a:ext cx="3334305" cy="6280845"/>
            <a:chOff x="0" y="0"/>
            <a:chExt cx="386445" cy="7279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6445" cy="727948"/>
            </a:xfrm>
            <a:custGeom>
              <a:avLst/>
              <a:gdLst/>
              <a:ahLst/>
              <a:cxnLst/>
              <a:rect r="r" b="b" t="t" l="l"/>
              <a:pathLst>
                <a:path h="727948" w="386445">
                  <a:moveTo>
                    <a:pt x="45350" y="0"/>
                  </a:moveTo>
                  <a:lnTo>
                    <a:pt x="341095" y="0"/>
                  </a:lnTo>
                  <a:cubicBezTo>
                    <a:pt x="353123" y="0"/>
                    <a:pt x="364657" y="4778"/>
                    <a:pt x="373162" y="13283"/>
                  </a:cubicBezTo>
                  <a:cubicBezTo>
                    <a:pt x="381667" y="21787"/>
                    <a:pt x="386445" y="33322"/>
                    <a:pt x="386445" y="45350"/>
                  </a:cubicBezTo>
                  <a:lnTo>
                    <a:pt x="386445" y="682598"/>
                  </a:lnTo>
                  <a:cubicBezTo>
                    <a:pt x="386445" y="694625"/>
                    <a:pt x="381667" y="706160"/>
                    <a:pt x="373162" y="714665"/>
                  </a:cubicBezTo>
                  <a:cubicBezTo>
                    <a:pt x="364657" y="723170"/>
                    <a:pt x="353123" y="727948"/>
                    <a:pt x="341095" y="727948"/>
                  </a:cubicBezTo>
                  <a:lnTo>
                    <a:pt x="45350" y="727948"/>
                  </a:lnTo>
                  <a:cubicBezTo>
                    <a:pt x="33322" y="727948"/>
                    <a:pt x="21787" y="723170"/>
                    <a:pt x="13283" y="714665"/>
                  </a:cubicBezTo>
                  <a:cubicBezTo>
                    <a:pt x="4778" y="706160"/>
                    <a:pt x="0" y="694625"/>
                    <a:pt x="0" y="682598"/>
                  </a:cubicBezTo>
                  <a:lnTo>
                    <a:pt x="0" y="45350"/>
                  </a:lnTo>
                  <a:cubicBezTo>
                    <a:pt x="0" y="33322"/>
                    <a:pt x="4778" y="21787"/>
                    <a:pt x="13283" y="13283"/>
                  </a:cubicBezTo>
                  <a:cubicBezTo>
                    <a:pt x="21787" y="4778"/>
                    <a:pt x="33322" y="0"/>
                    <a:pt x="45350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86445" cy="775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712575" y="5425687"/>
            <a:ext cx="5755729" cy="29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원의 반지름과 원 안에 포함될 최소 점 개수를 사전에 지정 (지정 면적에 들어갈 데이터 개수, 즉 밀도를 설정)</a:t>
            </a:r>
          </a:p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최소 점 개수보다 더 많은 점이 포함되면 원으로 점들을 묶음</a:t>
            </a:r>
          </a:p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만들어진 원들을 하나로 이어서 최종 군집 결정</a:t>
            </a:r>
          </a:p>
        </p:txBody>
      </p:sp>
      <p:grpSp>
        <p:nvGrpSpPr>
          <p:cNvPr name="Group 24" id="24"/>
          <p:cNvGrpSpPr/>
          <p:nvPr/>
        </p:nvGrpSpPr>
        <p:grpSpPr>
          <a:xfrm rot="-5400000">
            <a:off x="3827627" y="1537529"/>
            <a:ext cx="1054779" cy="3768366"/>
            <a:chOff x="0" y="0"/>
            <a:chExt cx="117237" cy="4188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237" cy="418846"/>
            </a:xfrm>
            <a:custGeom>
              <a:avLst/>
              <a:gdLst/>
              <a:ahLst/>
              <a:cxnLst/>
              <a:rect r="r" b="b" t="t" l="l"/>
              <a:pathLst>
                <a:path h="418846" w="117237">
                  <a:moveTo>
                    <a:pt x="58618" y="0"/>
                  </a:moveTo>
                  <a:lnTo>
                    <a:pt x="58618" y="0"/>
                  </a:lnTo>
                  <a:cubicBezTo>
                    <a:pt x="90992" y="0"/>
                    <a:pt x="117237" y="26244"/>
                    <a:pt x="117237" y="58618"/>
                  </a:cubicBezTo>
                  <a:lnTo>
                    <a:pt x="117237" y="360228"/>
                  </a:lnTo>
                  <a:cubicBezTo>
                    <a:pt x="117237" y="392602"/>
                    <a:pt x="90992" y="418846"/>
                    <a:pt x="58618" y="418846"/>
                  </a:cubicBezTo>
                  <a:lnTo>
                    <a:pt x="58618" y="418846"/>
                  </a:lnTo>
                  <a:cubicBezTo>
                    <a:pt x="26244" y="418846"/>
                    <a:pt x="0" y="392602"/>
                    <a:pt x="0" y="360228"/>
                  </a:cubicBezTo>
                  <a:lnTo>
                    <a:pt x="0" y="58618"/>
                  </a:lnTo>
                  <a:cubicBezTo>
                    <a:pt x="0" y="26244"/>
                    <a:pt x="26244" y="0"/>
                    <a:pt x="58618" y="0"/>
                  </a:cubicBezTo>
                  <a:close/>
                </a:path>
              </a:pathLst>
            </a:custGeom>
            <a:solidFill>
              <a:srgbClr val="D1E0F1">
                <a:alpha val="6000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17237" cy="466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712575" y="2945500"/>
            <a:ext cx="3284883" cy="8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9"/>
              </a:lnSpc>
              <a:spcBef>
                <a:spcPct val="0"/>
              </a:spcBef>
            </a:pPr>
            <a:r>
              <a:rPr lang="en-US" b="true" sz="4877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DBSCAN</a:t>
            </a:r>
          </a:p>
        </p:txBody>
      </p:sp>
      <p:grpSp>
        <p:nvGrpSpPr>
          <p:cNvPr name="Group 28" id="28"/>
          <p:cNvGrpSpPr/>
          <p:nvPr/>
        </p:nvGrpSpPr>
        <p:grpSpPr>
          <a:xfrm rot="-5400000">
            <a:off x="10603801" y="-1025498"/>
            <a:ext cx="992485" cy="8894421"/>
            <a:chOff x="0" y="0"/>
            <a:chExt cx="115029" cy="10308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029" cy="1030860"/>
            </a:xfrm>
            <a:custGeom>
              <a:avLst/>
              <a:gdLst/>
              <a:ahLst/>
              <a:cxnLst/>
              <a:rect r="r" b="b" t="t" l="l"/>
              <a:pathLst>
                <a:path h="1030860" w="115029">
                  <a:moveTo>
                    <a:pt x="57514" y="0"/>
                  </a:moveTo>
                  <a:lnTo>
                    <a:pt x="57514" y="0"/>
                  </a:lnTo>
                  <a:cubicBezTo>
                    <a:pt x="72768" y="0"/>
                    <a:pt x="87397" y="6060"/>
                    <a:pt x="98183" y="16846"/>
                  </a:cubicBezTo>
                  <a:cubicBezTo>
                    <a:pt x="108969" y="27632"/>
                    <a:pt x="115029" y="42261"/>
                    <a:pt x="115029" y="57514"/>
                  </a:cubicBezTo>
                  <a:lnTo>
                    <a:pt x="115029" y="973346"/>
                  </a:lnTo>
                  <a:cubicBezTo>
                    <a:pt x="115029" y="988600"/>
                    <a:pt x="108969" y="1003229"/>
                    <a:pt x="98183" y="1014015"/>
                  </a:cubicBezTo>
                  <a:cubicBezTo>
                    <a:pt x="87397" y="1024801"/>
                    <a:pt x="72768" y="1030860"/>
                    <a:pt x="57514" y="1030860"/>
                  </a:cubicBezTo>
                  <a:lnTo>
                    <a:pt x="57514" y="1030860"/>
                  </a:lnTo>
                  <a:cubicBezTo>
                    <a:pt x="42261" y="1030860"/>
                    <a:pt x="27632" y="1024801"/>
                    <a:pt x="16846" y="1014015"/>
                  </a:cubicBezTo>
                  <a:cubicBezTo>
                    <a:pt x="6060" y="1003229"/>
                    <a:pt x="0" y="988600"/>
                    <a:pt x="0" y="973346"/>
                  </a:cubicBezTo>
                  <a:lnTo>
                    <a:pt x="0" y="57514"/>
                  </a:lnTo>
                  <a:cubicBezTo>
                    <a:pt x="0" y="42261"/>
                    <a:pt x="6060" y="27632"/>
                    <a:pt x="16846" y="16846"/>
                  </a:cubicBezTo>
                  <a:cubicBezTo>
                    <a:pt x="27632" y="6060"/>
                    <a:pt x="42261" y="0"/>
                    <a:pt x="57514" y="0"/>
                  </a:cubicBezTo>
                  <a:close/>
                </a:path>
              </a:pathLst>
            </a:custGeom>
            <a:solidFill>
              <a:srgbClr val="F4F4F4">
                <a:alpha val="6000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15029" cy="107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097932" y="3175967"/>
            <a:ext cx="803507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 분포의 밀도를 기준</a:t>
            </a:r>
            <a:r>
              <a:rPr lang="en-US" b="true" sz="26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으로 군집화를 형성하는 기법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70834" y="4368826"/>
            <a:ext cx="4812832" cy="59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7"/>
              </a:lnSpc>
              <a:spcBef>
                <a:spcPct val="0"/>
              </a:spcBef>
            </a:pPr>
            <a:r>
              <a:rPr lang="en-US" b="true" sz="33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How clustering works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54794" y="4368826"/>
            <a:ext cx="4812832" cy="59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7"/>
              </a:lnSpc>
              <a:spcBef>
                <a:spcPct val="0"/>
              </a:spcBef>
            </a:pPr>
            <a:r>
              <a:rPr lang="en-US" b="true" sz="3391">
                <a:solidFill>
                  <a:srgbClr val="72707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Strengths &amp; Limitation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75656" y="5733090"/>
            <a:ext cx="4780288" cy="106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K를 미리 정하지 않아도 됨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이상치를 noise로 분리 가능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비구형 군집도 탐지 가능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75656" y="7266042"/>
            <a:ext cx="4421664" cy="71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밀도 차이가 큰 데이터에서는 성능 불안정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EPS 설정이 어려움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828103" y="6845006"/>
            <a:ext cx="4780288" cy="38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단점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28103" y="5311387"/>
            <a:ext cx="4780288" cy="38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장점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00190" y="818539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047502" y="2922392"/>
            <a:ext cx="13965918" cy="4695648"/>
          </a:xfrm>
          <a:custGeom>
            <a:avLst/>
            <a:gdLst/>
            <a:ahLst/>
            <a:cxnLst/>
            <a:rect r="r" b="b" t="t" l="l"/>
            <a:pathLst>
              <a:path h="4695648" w="13965918">
                <a:moveTo>
                  <a:pt x="0" y="0"/>
                </a:moveTo>
                <a:lnTo>
                  <a:pt x="13965918" y="0"/>
                </a:lnTo>
                <a:lnTo>
                  <a:pt x="13965918" y="4695649"/>
                </a:lnTo>
                <a:lnTo>
                  <a:pt x="0" y="4695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350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1528337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기타 군집화 알고리즘 - DBSCAN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69848" y="7964079"/>
            <a:ext cx="1403660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초록색, 노란색, 청록색으로 군집화가 진행되어 있음. 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이상치가 6개이므로 데이터 군집을 나누기에 완벽하진 않지만 군집화가 이루어진 3개의 군집에 한해서는 군집 구분 가능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 평가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14697" y="6533151"/>
            <a:ext cx="9397513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실루엣 계수</a:t>
            </a: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를 이용하여 군집화 평가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214697" y="3829590"/>
            <a:ext cx="8787598" cy="883920"/>
            <a:chOff x="0" y="0"/>
            <a:chExt cx="11716797" cy="117856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618074"/>
              <a:ext cx="6864026" cy="560486"/>
              <a:chOff x="0" y="0"/>
              <a:chExt cx="777059" cy="634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77059" cy="63451"/>
              </a:xfrm>
              <a:custGeom>
                <a:avLst/>
                <a:gdLst/>
                <a:ahLst/>
                <a:cxnLst/>
                <a:rect r="r" b="b" t="t" l="l"/>
                <a:pathLst>
                  <a:path h="63451" w="777059">
                    <a:moveTo>
                      <a:pt x="29372" y="0"/>
                    </a:moveTo>
                    <a:lnTo>
                      <a:pt x="747687" y="0"/>
                    </a:lnTo>
                    <a:cubicBezTo>
                      <a:pt x="763908" y="0"/>
                      <a:pt x="777059" y="13150"/>
                      <a:pt x="777059" y="29372"/>
                    </a:cubicBezTo>
                    <a:lnTo>
                      <a:pt x="777059" y="34079"/>
                    </a:lnTo>
                    <a:cubicBezTo>
                      <a:pt x="777059" y="41869"/>
                      <a:pt x="773964" y="49340"/>
                      <a:pt x="768456" y="54848"/>
                    </a:cubicBezTo>
                    <a:cubicBezTo>
                      <a:pt x="762948" y="60357"/>
                      <a:pt x="755477" y="63451"/>
                      <a:pt x="747687" y="63451"/>
                    </a:cubicBezTo>
                    <a:lnTo>
                      <a:pt x="29372" y="63451"/>
                    </a:lnTo>
                    <a:cubicBezTo>
                      <a:pt x="21582" y="63451"/>
                      <a:pt x="14111" y="60357"/>
                      <a:pt x="8603" y="54848"/>
                    </a:cubicBezTo>
                    <a:cubicBezTo>
                      <a:pt x="3095" y="49340"/>
                      <a:pt x="0" y="41869"/>
                      <a:pt x="0" y="34079"/>
                    </a:cubicBezTo>
                    <a:lnTo>
                      <a:pt x="0" y="29372"/>
                    </a:lnTo>
                    <a:cubicBezTo>
                      <a:pt x="0" y="21582"/>
                      <a:pt x="3095" y="14111"/>
                      <a:pt x="8603" y="8603"/>
                    </a:cubicBezTo>
                    <a:cubicBezTo>
                      <a:pt x="14111" y="3095"/>
                      <a:pt x="21582" y="0"/>
                      <a:pt x="29372" y="0"/>
                    </a:cubicBezTo>
                    <a:close/>
                  </a:path>
                </a:pathLst>
              </a:custGeom>
              <a:solidFill>
                <a:srgbClr val="FFFA8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777059" cy="1110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-66675"/>
              <a:ext cx="11716797" cy="1245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79"/>
                </a:lnSpc>
              </a:pPr>
              <a:r>
                <a:rPr lang="en-US" sz="2699" b="true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군집화는 </a:t>
              </a:r>
              <a:r>
                <a:rPr lang="en-US" sz="2699" b="true">
                  <a:solidFill>
                    <a:srgbClr val="FF3131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비지도 학습</a:t>
              </a:r>
              <a:r>
                <a:rPr lang="en-US" sz="2699" b="true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이므로,</a:t>
              </a:r>
            </a:p>
            <a:p>
              <a:pPr algn="just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얼마나 효율적으로 잘 되었는지 평가할 별도의 지표가 필요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897094" y="3767859"/>
            <a:ext cx="2704320" cy="90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9"/>
              </a:lnSpc>
              <a:spcBef>
                <a:spcPct val="0"/>
              </a:spcBef>
            </a:pP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WHY</a:t>
            </a: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97094" y="6316481"/>
            <a:ext cx="2704320" cy="90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9"/>
              </a:lnSpc>
              <a:spcBef>
                <a:spcPct val="0"/>
              </a:spcBef>
            </a:pP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HOW</a:t>
            </a:r>
            <a:r>
              <a:rPr lang="en-US" b="true" sz="52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?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541842" y="5482879"/>
            <a:ext cx="9204317" cy="1938377"/>
          </a:xfrm>
          <a:custGeom>
            <a:avLst/>
            <a:gdLst/>
            <a:ahLst/>
            <a:cxnLst/>
            <a:rect r="r" b="b" t="t" l="l"/>
            <a:pathLst>
              <a:path h="1938377" w="9204317">
                <a:moveTo>
                  <a:pt x="0" y="0"/>
                </a:moveTo>
                <a:lnTo>
                  <a:pt x="9204316" y="0"/>
                </a:lnTo>
                <a:lnTo>
                  <a:pt x="9204316" y="1938377"/>
                </a:lnTo>
                <a:lnTo>
                  <a:pt x="0" y="193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 평가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38448" y="3892452"/>
            <a:ext cx="3808970" cy="75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9"/>
              </a:lnSpc>
              <a:spcBef>
                <a:spcPct val="0"/>
              </a:spcBef>
            </a:pPr>
            <a:r>
              <a:rPr lang="en-US" b="true" sz="43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실루엣 계수란?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44008" y="3516494"/>
            <a:ext cx="9397513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개별 데이터가 할당된 군집 내 데이터와 </a:t>
            </a:r>
            <a:r>
              <a:rPr lang="en-US" sz="2899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얼마나</a:t>
            </a: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  <a:r>
              <a:rPr lang="en-US" sz="2899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가깝게</a:t>
            </a: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군집화 되어있는지, 그리고 다른 군집에 있는 데이터와는 </a:t>
            </a:r>
            <a:r>
              <a:rPr lang="en-US" sz="2899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얼마나 멀리</a:t>
            </a: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분리되어 있는지를 수치로 나타낸 것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04113" y="7794426"/>
            <a:ext cx="13376267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a(i) (군집 내 응집도) : 데이터 i와 자신이 속한 군집 내의 다른 모든 데이터들 간의 평균 거리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b</a:t>
            </a:r>
            <a:r>
              <a:rPr lang="en-US" sz="25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(i) (군집 간 분리도) : 데이터 i와 가장 가까운 이웃 군집의 모든 데이터들 간 평균 거리</a:t>
            </a:r>
          </a:p>
        </p:txBody>
      </p:sp>
      <p:sp>
        <p:nvSpPr>
          <p:cNvPr name="AutoShape 21" id="21"/>
          <p:cNvSpPr/>
          <p:nvPr/>
        </p:nvSpPr>
        <p:spPr>
          <a:xfrm flipH="true">
            <a:off x="2321280" y="4667076"/>
            <a:ext cx="3643305" cy="0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38448" y="3892452"/>
            <a:ext cx="3808970" cy="75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9"/>
              </a:lnSpc>
              <a:spcBef>
                <a:spcPct val="0"/>
              </a:spcBef>
            </a:pPr>
            <a:r>
              <a:rPr lang="en-US" b="true" sz="43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해석방법?</a:t>
            </a:r>
          </a:p>
        </p:txBody>
      </p:sp>
      <p:sp>
        <p:nvSpPr>
          <p:cNvPr name="AutoShape 16" id="16"/>
          <p:cNvSpPr/>
          <p:nvPr/>
        </p:nvSpPr>
        <p:spPr>
          <a:xfrm flipH="true">
            <a:off x="2736917" y="4648026"/>
            <a:ext cx="2846669" cy="0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2736917" y="5716602"/>
            <a:ext cx="13366257" cy="2840330"/>
          </a:xfrm>
          <a:custGeom>
            <a:avLst/>
            <a:gdLst/>
            <a:ahLst/>
            <a:cxnLst/>
            <a:rect r="r" b="b" t="t" l="l"/>
            <a:pathLst>
              <a:path h="2840330" w="13366257">
                <a:moveTo>
                  <a:pt x="0" y="0"/>
                </a:moveTo>
                <a:lnTo>
                  <a:pt x="13366257" y="0"/>
                </a:lnTo>
                <a:lnTo>
                  <a:pt x="13366257" y="2840329"/>
                </a:lnTo>
                <a:lnTo>
                  <a:pt x="0" y="2840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 평가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49100" y="3516494"/>
            <a:ext cx="9701887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-1에서 1사이의 값을 가지며, 1에 가까울수록 근처 군집과 더 멀리, 0에 가까울수록 근처 군집과 가까이있는 것으로 봄. </a:t>
            </a:r>
          </a:p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음의 값을 가질 경우 다른 군집에 데이터가 할당됐음을 의미함.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38448" y="3892452"/>
            <a:ext cx="3808970" cy="75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9"/>
              </a:lnSpc>
              <a:spcBef>
                <a:spcPct val="0"/>
              </a:spcBef>
            </a:pPr>
            <a:r>
              <a:rPr lang="en-US" b="true" sz="4377">
                <a:solidFill>
                  <a:srgbClr val="A2A2A2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실루엣스코어</a:t>
            </a:r>
          </a:p>
        </p:txBody>
      </p:sp>
      <p:sp>
        <p:nvSpPr>
          <p:cNvPr name="AutoShape 16" id="16"/>
          <p:cNvSpPr/>
          <p:nvPr/>
        </p:nvSpPr>
        <p:spPr>
          <a:xfrm flipH="true">
            <a:off x="2487683" y="4667076"/>
            <a:ext cx="3310501" cy="0"/>
          </a:xfrm>
          <a:prstGeom prst="line">
            <a:avLst/>
          </a:prstGeom>
          <a:ln cap="flat" w="381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 평가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8645" y="3516494"/>
            <a:ext cx="9397513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각 데이터에 대해 실루엣 계수를 구한 후 평균을 낸 값으로 </a:t>
            </a:r>
          </a:p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FF3131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현재 군집화 결과의 적절성</a:t>
            </a: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을 판단하는 지표. 최적의 군집 수를 결정하는 데에도 활용됨.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487683" y="5668226"/>
            <a:ext cx="13546779" cy="2971118"/>
          </a:xfrm>
          <a:custGeom>
            <a:avLst/>
            <a:gdLst/>
            <a:ahLst/>
            <a:cxnLst/>
            <a:rect r="r" b="b" t="t" l="l"/>
            <a:pathLst>
              <a:path h="2971118" w="13546779">
                <a:moveTo>
                  <a:pt x="0" y="0"/>
                </a:moveTo>
                <a:lnTo>
                  <a:pt x="13546779" y="0"/>
                </a:lnTo>
                <a:lnTo>
                  <a:pt x="13546779" y="2971118"/>
                </a:lnTo>
                <a:lnTo>
                  <a:pt x="0" y="2971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" t="-5563" r="-1506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241159" y="2926648"/>
            <a:ext cx="8875880" cy="4749546"/>
          </a:xfrm>
          <a:custGeom>
            <a:avLst/>
            <a:gdLst/>
            <a:ahLst/>
            <a:cxnLst/>
            <a:rect r="r" b="b" t="t" l="l"/>
            <a:pathLst>
              <a:path h="4749546" w="8875880">
                <a:moveTo>
                  <a:pt x="0" y="0"/>
                </a:moveTo>
                <a:lnTo>
                  <a:pt x="8875880" y="0"/>
                </a:lnTo>
                <a:lnTo>
                  <a:pt x="8875880" y="4749546"/>
                </a:lnTo>
                <a:lnTo>
                  <a:pt x="0" y="4749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295" t="0" r="-37297" b="-5047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 평가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50105" y="8016963"/>
            <a:ext cx="13617032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빨간 점선은 전체 실루엣 계수의 평균으로 이 값과 각 그룹의 평균 실루엣 계수가 유사해야 군집화가 잘 되었다고 판단 가능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군집이 4개일 때 실루엣 계수도 높고, 전체 실루엣 계수의 평균과 유사하기에 적합한 군집의 개수로 4 채택 가능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66293" y="1467009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군집 평가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9803" y="1544479"/>
            <a:ext cx="131729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i="true">
                <a:solidFill>
                  <a:srgbClr val="D1E0F1"/>
                </a:solidFill>
                <a:latin typeface="Arita Buri Bold Italics"/>
                <a:ea typeface="Arita Buri Bold Italics"/>
                <a:cs typeface="Arita Buri Bold Italics"/>
                <a:sym typeface="Arita Buri Bold Italics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33208" y="5076825"/>
            <a:ext cx="1621584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실습 항목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75150" y="1514241"/>
            <a:ext cx="10825613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출처 및 참고 문헌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87684" y="2673766"/>
            <a:ext cx="14712633" cy="599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[군집화 정의 - [출처] 정보통신용어사전 https://terms.tta.or.kr/dictionary/dictionaryView.do?word_seq=038701-2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군집화 정리 -https://velog.io/@hhhs101/%EB%A8%B8%EC%8B%A0%EB%9F%AC%EB%8B%9D-Clustering-%EA%B5%B0%EC%A7%91%EB%B6%84%EC%84%9D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마할라노비스 거리 이미지 - https://uiandwe.tistory.com/96#comment3748844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유사도 측정법 - https://blog.skby.net/%EC%9C%A0%EC%82%AC%EB%8F%84-%EC%B8%A1%EC%A0%95%EB%B2%95-similarity-measure/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계층적 군집 (1) - https://scikit-learn.org/stable/auto_examples/cluster/plot_linkage_comparison.html#sphx-glr-auto-examples-cluster-plot-linkage-comparison-py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계층적 군집 (2) - https://docs.scipy.org/doc/scipy/reference/generated/scipy.cluster.hierarchy.linkage.html?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덴드로그램 - https://scikit-learn.org/stable/auto_examples/cluster/plot_agglomerative_dendrogram.html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실루엣 계수/점수 - https://scikit-learn.org/stable/modules/generated/sklearn.metrics.silhouette_score.html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실루엣 계수/점수 - https://scikit-learn.org/stable/modules/generated/sklearn.metrics.silhouette_samples.html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6907" y="-237725"/>
            <a:ext cx="19018307" cy="10722639"/>
            <a:chOff x="0" y="0"/>
            <a:chExt cx="25357743" cy="1429685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5219733" cy="4825965"/>
              <a:chOff x="0" y="0"/>
              <a:chExt cx="4981676" cy="95327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81675" cy="953277"/>
              </a:xfrm>
              <a:custGeom>
                <a:avLst/>
                <a:gdLst/>
                <a:ahLst/>
                <a:cxnLst/>
                <a:rect r="r" b="b" t="t" l="l"/>
                <a:pathLst>
                  <a:path h="953277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3277"/>
                    </a:lnTo>
                    <a:lnTo>
                      <a:pt x="0" y="953277"/>
                    </a:lnTo>
                    <a:close/>
                  </a:path>
                </a:pathLst>
              </a:custGeom>
              <a:solidFill>
                <a:srgbClr val="F4F4F4">
                  <a:alpha val="73725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981676" cy="1000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8010" y="9461436"/>
              <a:ext cx="25219733" cy="4835416"/>
              <a:chOff x="0" y="0"/>
              <a:chExt cx="4981676" cy="9551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81675" cy="955144"/>
              </a:xfrm>
              <a:custGeom>
                <a:avLst/>
                <a:gdLst/>
                <a:ahLst/>
                <a:cxnLst/>
                <a:rect r="r" b="b" t="t" l="l"/>
                <a:pathLst>
                  <a:path h="955144" w="4981675">
                    <a:moveTo>
                      <a:pt x="0" y="0"/>
                    </a:moveTo>
                    <a:lnTo>
                      <a:pt x="4981675" y="0"/>
                    </a:lnTo>
                    <a:lnTo>
                      <a:pt x="4981675" y="955144"/>
                    </a:lnTo>
                    <a:lnTo>
                      <a:pt x="0" y="955144"/>
                    </a:lnTo>
                    <a:close/>
                  </a:path>
                </a:pathLst>
              </a:custGeom>
              <a:solidFill>
                <a:srgbClr val="F2F8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981676" cy="1002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43982" y="847530"/>
            <a:ext cx="16184112" cy="8649922"/>
            <a:chOff x="0" y="0"/>
            <a:chExt cx="4262482" cy="22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482" cy="2278169"/>
            </a:xfrm>
            <a:custGeom>
              <a:avLst/>
              <a:gdLst/>
              <a:ahLst/>
              <a:cxnLst/>
              <a:rect r="r" b="b" t="t" l="l"/>
              <a:pathLst>
                <a:path h="2278169" w="4262482">
                  <a:moveTo>
                    <a:pt x="7654" y="0"/>
                  </a:moveTo>
                  <a:lnTo>
                    <a:pt x="4254828" y="0"/>
                  </a:lnTo>
                  <a:cubicBezTo>
                    <a:pt x="4259055" y="0"/>
                    <a:pt x="4262482" y="3427"/>
                    <a:pt x="4262482" y="7654"/>
                  </a:cubicBezTo>
                  <a:lnTo>
                    <a:pt x="4262482" y="2270515"/>
                  </a:lnTo>
                  <a:cubicBezTo>
                    <a:pt x="4262482" y="2274742"/>
                    <a:pt x="4259055" y="2278169"/>
                    <a:pt x="4254828" y="2278169"/>
                  </a:cubicBezTo>
                  <a:lnTo>
                    <a:pt x="7654" y="2278169"/>
                  </a:lnTo>
                  <a:cubicBezTo>
                    <a:pt x="3427" y="2278169"/>
                    <a:pt x="0" y="2274742"/>
                    <a:pt x="0" y="2270515"/>
                  </a:cubicBezTo>
                  <a:lnTo>
                    <a:pt x="0" y="7654"/>
                  </a:lnTo>
                  <a:cubicBezTo>
                    <a:pt x="0" y="3427"/>
                    <a:pt x="3427" y="0"/>
                    <a:pt x="76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62482" cy="2325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87956" y="9255011"/>
            <a:ext cx="3912087" cy="484881"/>
            <a:chOff x="0" y="0"/>
            <a:chExt cx="3757169" cy="465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7170" cy="465680"/>
            </a:xfrm>
            <a:custGeom>
              <a:avLst/>
              <a:gdLst/>
              <a:ahLst/>
              <a:cxnLst/>
              <a:rect r="r" b="b" t="t" l="l"/>
              <a:pathLst>
                <a:path h="465680" w="3757170">
                  <a:moveTo>
                    <a:pt x="3553970" y="0"/>
                  </a:moveTo>
                  <a:cubicBezTo>
                    <a:pt x="3666194" y="0"/>
                    <a:pt x="3757170" y="104246"/>
                    <a:pt x="3757170" y="232840"/>
                  </a:cubicBezTo>
                  <a:cubicBezTo>
                    <a:pt x="3757170" y="361434"/>
                    <a:pt x="3666194" y="465680"/>
                    <a:pt x="3553970" y="465680"/>
                  </a:cubicBezTo>
                  <a:lnTo>
                    <a:pt x="203200" y="465680"/>
                  </a:lnTo>
                  <a:cubicBezTo>
                    <a:pt x="90976" y="465680"/>
                    <a:pt x="0" y="361434"/>
                    <a:pt x="0" y="232840"/>
                  </a:cubicBezTo>
                  <a:cubicBezTo>
                    <a:pt x="0" y="104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8FF"/>
            </a:solidFill>
            <a:ln w="9525" cap="sq">
              <a:solidFill>
                <a:srgbClr val="72707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57169" cy="513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KONKUK UNIV. KUGGLE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47788" y="1775643"/>
            <a:ext cx="5040168" cy="142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0"/>
              </a:lnSpc>
            </a:pPr>
            <a:r>
              <a:rPr lang="en-US" sz="8278" spc="-132">
                <a:solidFill>
                  <a:srgbClr val="231F20"/>
                </a:solidFill>
                <a:latin typeface="210 도시락"/>
                <a:ea typeface="210 도시락"/>
                <a:cs typeface="210 도시락"/>
                <a:sym typeface="210 도시락"/>
              </a:rPr>
              <a:t>감사합니다.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42989" y="3131816"/>
            <a:ext cx="4449766" cy="53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0"/>
              </a:lnSpc>
            </a:pPr>
            <a:r>
              <a:rPr lang="en-US" sz="3078" spc="-49">
                <a:solidFill>
                  <a:srgbClr val="A2A2A2"/>
                </a:solidFill>
                <a:latin typeface="210 도시락"/>
                <a:ea typeface="210 도시락"/>
                <a:cs typeface="210 도시락"/>
                <a:sym typeface="210 도시락"/>
              </a:rPr>
              <a:t>실습 진행해주시면 됩니다~!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DAHHXoac8Ks</dc:identifier>
  <dcterms:modified xsi:type="dcterms:W3CDTF">2011-08-01T06:04:30Z</dcterms:modified>
  <cp:revision>1</cp:revision>
  <dc:title>군집화</dc:title>
</cp:coreProperties>
</file>