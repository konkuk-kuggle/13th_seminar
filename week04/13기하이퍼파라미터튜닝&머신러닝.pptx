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24384000" cy="13716000"/>
  <p:notesSz cx="6858000" cy="9144000"/>
  <p:embeddedFontLst>
    <p:embeddedFont>
      <p:font typeface="Pretendard Regular"/>
      <p:regular r:id="rId39"/>
    </p:embeddedFont>
    <p:embeddedFont>
      <p:font typeface="Pretendard SemiBold"/>
      <p:bold r:id="rId40"/>
    </p:embeddedFont>
    <p:embeddedFont>
      <p:font typeface="Pretendard Bold"/>
      <p:bold r:id="rId41"/>
    </p:embeddedFont>
    <p:embeddedFont>
      <p:font typeface="Pretendard Medium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1.fntdata" Type="http://schemas.openxmlformats.org/officeDocument/2006/relationships/font"/><Relationship Id="rId4" Target="theme/theme1.xml" Type="http://schemas.openxmlformats.org/officeDocument/2006/relationships/theme"/><Relationship Id="rId40" Target="fonts/font2.fntdata" Type="http://schemas.openxmlformats.org/officeDocument/2006/relationships/font"/><Relationship Id="rId41" Target="fonts/font3.fntdata" Type="http://schemas.openxmlformats.org/officeDocument/2006/relationships/font"/><Relationship Id="rId42" Target="fonts/font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13.png" Type="http://schemas.openxmlformats.org/officeDocument/2006/relationships/image"/><Relationship Id="rId6" Target="../media/image11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28.png" Type="http://schemas.openxmlformats.org/officeDocument/2006/relationships/image"/><Relationship Id="rId6" Target="../media/image11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30.png" Type="http://schemas.openxmlformats.org/officeDocument/2006/relationships/image"/><Relationship Id="rId7" Target="../media/image11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42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46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4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6.png" Type="http://schemas.openxmlformats.org/officeDocument/2006/relationships/image"/><Relationship Id="rId6" Target="../media/image4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4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5.pn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5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6.png" Type="http://schemas.openxmlformats.org/officeDocument/2006/relationships/image"/><Relationship Id="rId6" Target="../media/image5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6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5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7.png" Type="http://schemas.openxmlformats.org/officeDocument/2006/relationships/image"/><Relationship Id="rId5" Target="../media/image58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5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0600" y="10541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12611100"/>
            <a:ext cx="23622000" cy="736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70700" y="5295900"/>
            <a:ext cx="10655300" cy="622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5321300" y="5257800"/>
            <a:ext cx="137287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81" b="false" i="false" u="none" strike="noStrike">
                <a:solidFill>
                  <a:srgbClr val="E9E9F2"/>
                </a:solidFill>
                <a:latin typeface="Pretendard Regular"/>
                <a:ea typeface="Pretendard Regular"/>
                <a:cs typeface="Pretendard Regular"/>
              </a:rPr>
              <a:t>Hyperparameter Tuning &amp; Machine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78400" y="1397000"/>
            <a:ext cx="57150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40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2026.03.31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1700" y="11645900"/>
            <a:ext cx="69723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335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KUGGLE 13기 이서경 이서연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" y="5905500"/>
            <a:ext cx="24155400" cy="246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3866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하이퍼파라미터 튜닝 &amp; 머신러닝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19200" y="4102100"/>
            <a:ext cx="6146800" cy="990600"/>
          </a:xfrm>
          <a:prstGeom prst="rect">
            <a:avLst/>
          </a:prstGeom>
        </p:spPr>
        <p:txBody>
          <a:bodyPr anchor="t" rtlCol="false" lIns="0" tIns="71118" rIns="0" bIns="0"/>
          <a:lstStyle/>
          <a:p>
            <a:pPr algn="ctr" lvl="0">
              <a:lnSpc>
                <a:spcPct val="99600"/>
              </a:lnSpc>
            </a:pPr>
            <a:r>
              <a:rPr lang="en-US" sz="5599" b="tru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하이퍼파라미터 튜닝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6200" y="5435600"/>
            <a:ext cx="5410200" cy="787400"/>
          </a:xfrm>
          <a:prstGeom prst="rect">
            <a:avLst/>
          </a:prstGeom>
        </p:spPr>
        <p:txBody>
          <a:bodyPr anchor="t" rtlCol="false" lIns="0" tIns="83818" rIns="0" bIns="0"/>
          <a:lstStyle/>
          <a:p>
            <a:pPr algn="ctr" lvl="0">
              <a:lnSpc>
                <a:spcPct val="91299"/>
              </a:lnSpc>
            </a:pPr>
            <a:r>
              <a:rPr lang="en-US" sz="4399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1. 하이퍼파라미터 개념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7400" y="6248400"/>
            <a:ext cx="30734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파라미터와의 차이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튜닝의 중요성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12200" y="5435600"/>
            <a:ext cx="2959100" cy="787400"/>
          </a:xfrm>
          <a:prstGeom prst="rect">
            <a:avLst/>
          </a:prstGeom>
        </p:spPr>
        <p:txBody>
          <a:bodyPr anchor="t" rtlCol="false" lIns="0" tIns="83818" rIns="0" bIns="0"/>
          <a:lstStyle/>
          <a:p>
            <a:pPr algn="ctr" lvl="0">
              <a:lnSpc>
                <a:spcPct val="91299"/>
              </a:lnSpc>
            </a:pPr>
            <a:r>
              <a:rPr lang="en-US" sz="4399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2. 튜닝 방법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86900" y="6375400"/>
            <a:ext cx="2717800" cy="260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수동 검색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그리드 검색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랜덤 검색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베이지안 최적화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진화 알고리즘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19300" y="5359400"/>
            <a:ext cx="7772400" cy="787400"/>
          </a:xfrm>
          <a:prstGeom prst="rect">
            <a:avLst/>
          </a:prstGeom>
        </p:spPr>
        <p:txBody>
          <a:bodyPr anchor="t" rtlCol="false" lIns="0" tIns="83818" rIns="0" bIns="0"/>
          <a:lstStyle/>
          <a:p>
            <a:pPr algn="ctr" lvl="0">
              <a:lnSpc>
                <a:spcPct val="91299"/>
              </a:lnSpc>
            </a:pPr>
            <a:r>
              <a:rPr lang="en-US" sz="4399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3. 대표적 하이퍼파라미터 및 한계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21000" y="6248400"/>
            <a:ext cx="4787900" cy="260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학습률 조작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정규화 계수 조작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배치 크기 최적화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에포크 수 결정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튜닝의 중요도 및 한계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0800" y="8978900"/>
            <a:ext cx="2781300" cy="990600"/>
          </a:xfrm>
          <a:prstGeom prst="rect">
            <a:avLst/>
          </a:prstGeom>
        </p:spPr>
        <p:txBody>
          <a:bodyPr anchor="t" rtlCol="false" lIns="0" tIns="71118" rIns="0" bIns="0"/>
          <a:lstStyle/>
          <a:p>
            <a:pPr algn="ctr" lvl="0">
              <a:lnSpc>
                <a:spcPct val="99600"/>
              </a:lnSpc>
            </a:pPr>
            <a:r>
              <a:rPr lang="en-US" sz="5599" b="tru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머신러닝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1600" y="10388600"/>
            <a:ext cx="3937000" cy="787400"/>
          </a:xfrm>
          <a:prstGeom prst="rect">
            <a:avLst/>
          </a:prstGeom>
        </p:spPr>
        <p:txBody>
          <a:bodyPr anchor="t" rtlCol="false" lIns="0" tIns="83818" rIns="0" bIns="0"/>
          <a:lstStyle/>
          <a:p>
            <a:pPr algn="ctr" lvl="0">
              <a:lnSpc>
                <a:spcPct val="91299"/>
              </a:lnSpc>
            </a:pPr>
            <a:r>
              <a:rPr lang="en-US" sz="4399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1. 머신러닝 개념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01100" y="10388600"/>
            <a:ext cx="3975100" cy="787400"/>
          </a:xfrm>
          <a:prstGeom prst="rect">
            <a:avLst/>
          </a:prstGeom>
        </p:spPr>
        <p:txBody>
          <a:bodyPr anchor="t" rtlCol="false" lIns="0" tIns="83818" rIns="0" bIns="0"/>
          <a:lstStyle/>
          <a:p>
            <a:pPr algn="ctr" lvl="0">
              <a:lnSpc>
                <a:spcPct val="91299"/>
              </a:lnSpc>
            </a:pPr>
            <a:r>
              <a:rPr lang="en-US" sz="4399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2. 머신러닝 종류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62700" y="1206500"/>
            <a:ext cx="11658600" cy="571500"/>
          </a:xfrm>
          <a:prstGeom prst="rect">
            <a:avLst/>
          </a:prstGeom>
        </p:spPr>
        <p:txBody>
          <a:bodyPr anchor="t" rtlCol="false" lIns="0" tIns="6096" rIns="0" bIns="0"/>
          <a:lstStyle/>
          <a:p>
            <a:pPr algn="ctr" lvl="0">
              <a:lnSpc>
                <a:spcPct val="113710"/>
              </a:lnSpc>
            </a:pPr>
            <a:r>
              <a:rPr lang="en-US" sz="31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CONTENTS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8400" y="1803400"/>
            <a:ext cx="11887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33600" y="10388600"/>
            <a:ext cx="6134100" cy="787400"/>
          </a:xfrm>
          <a:prstGeom prst="rect">
            <a:avLst/>
          </a:prstGeom>
        </p:spPr>
        <p:txBody>
          <a:bodyPr anchor="t" rtlCol="false" lIns="0" tIns="83818" rIns="0" bIns="0"/>
          <a:lstStyle/>
          <a:p>
            <a:pPr algn="ctr" lvl="0">
              <a:lnSpc>
                <a:spcPct val="91299"/>
              </a:lnSpc>
            </a:pPr>
            <a:r>
              <a:rPr lang="en-US" sz="4399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3. 머신러닝 알고리즘 선택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36700" y="4914900"/>
            <a:ext cx="11264900" cy="2908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914900" y="6362700"/>
            <a:ext cx="18415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36700" y="8458200"/>
            <a:ext cx="11290300" cy="2908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4914900" y="9893300"/>
            <a:ext cx="1841500" cy="25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019300" y="6070600"/>
            <a:ext cx="3467100" cy="571500"/>
          </a:xfrm>
          <a:prstGeom prst="rect">
            <a:avLst/>
          </a:prstGeom>
        </p:spPr>
        <p:txBody>
          <a:bodyPr anchor="t" rtlCol="false" lIns="0" tIns="122532" rIns="0" bIns="0"/>
          <a:lstStyle/>
          <a:p>
            <a:pPr algn="ctr" lvl="0">
              <a:lnSpc>
                <a:spcPct val="99600"/>
              </a:lnSpc>
            </a:pPr>
            <a:r>
              <a:rPr lang="en-US" sz="3193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하이퍼파라미터 정의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38900" y="5575300"/>
            <a:ext cx="6489700" cy="1778000"/>
          </a:xfrm>
          <a:prstGeom prst="rect">
            <a:avLst/>
          </a:prstGeom>
        </p:spPr>
        <p:txBody>
          <a:bodyPr anchor="t" rtlCol="false" lIns="0" tIns="35559" rIns="0" bIns="0"/>
          <a:lstStyle/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모델 학습 전 설정할 값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학습 과정 제어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예: 학습률, 배치 크기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수동 또는 자동 설정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26200" y="8813800"/>
            <a:ext cx="6477000" cy="2209800"/>
          </a:xfrm>
          <a:prstGeom prst="rect">
            <a:avLst/>
          </a:prstGeom>
        </p:spPr>
        <p:txBody>
          <a:bodyPr anchor="t" rtlCol="false" lIns="0" tIns="35559" rIns="0" bIns="0"/>
          <a:lstStyle/>
          <a:p>
            <a:pPr algn="l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파라미터 : 모델이 학습</a:t>
            </a:r>
          </a:p>
          <a:p>
            <a:pPr algn="l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하이퍼파라미터 : 사용자 지정</a:t>
            </a:r>
          </a:p>
          <a:p>
            <a:pPr algn="l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/>
            </a:r>
          </a:p>
          <a:p>
            <a:pPr algn="l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파라미터 : 내부 학습을 통한 가중치 부여</a:t>
            </a:r>
          </a:p>
          <a:p>
            <a:pPr algn="l" lvl="0">
              <a:lnSpc>
                <a:spcPct val="99600"/>
              </a:lnSpc>
            </a:pPr>
            <a:r>
              <a:rPr lang="en-US" sz="27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하이퍼파라미터 : 외부에서 학습 방식 제어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48400" y="1460500"/>
            <a:ext cx="11887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하이퍼파라미터 개념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19300" y="9639300"/>
            <a:ext cx="3467100" cy="571500"/>
          </a:xfrm>
          <a:prstGeom prst="rect">
            <a:avLst/>
          </a:prstGeom>
        </p:spPr>
        <p:txBody>
          <a:bodyPr anchor="t" rtlCol="false" lIns="0" tIns="122532" rIns="0" bIns="0"/>
          <a:lstStyle/>
          <a:p>
            <a:pPr algn="ctr" lvl="0">
              <a:lnSpc>
                <a:spcPct val="99600"/>
              </a:lnSpc>
            </a:pPr>
            <a:r>
              <a:rPr lang="en-US" sz="3193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파라미터와의 차이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843000" y="4216400"/>
            <a:ext cx="8775700" cy="784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36700" y="4914900"/>
            <a:ext cx="21361400" cy="2908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607300" y="6388100"/>
            <a:ext cx="18415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36700" y="8458200"/>
            <a:ext cx="21361400" cy="2908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607300" y="9931400"/>
            <a:ext cx="1841500" cy="25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857500" y="5956300"/>
            <a:ext cx="4140200" cy="825500"/>
          </a:xfrm>
          <a:prstGeom prst="rect">
            <a:avLst/>
          </a:prstGeom>
        </p:spPr>
        <p:txBody>
          <a:bodyPr anchor="t" rtlCol="false" lIns="0" tIns="59188" rIns="0" bIns="0"/>
          <a:lstStyle/>
          <a:p>
            <a:pPr algn="ctr" lvl="0">
              <a:lnSpc>
                <a:spcPct val="99600"/>
              </a:lnSpc>
            </a:pPr>
            <a:r>
              <a:rPr lang="en-US" sz="4660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모델 성능 최적화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5410200"/>
            <a:ext cx="6540500" cy="19304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9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정확도와 일반화 능력 향상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9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학습 속도와 효율성 개선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9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모델의 안정성 확보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48400" y="1460500"/>
            <a:ext cx="11887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튜닝의 중요성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3900" y="9499600"/>
            <a:ext cx="5854700" cy="825500"/>
          </a:xfrm>
          <a:prstGeom prst="rect">
            <a:avLst/>
          </a:prstGeom>
        </p:spPr>
        <p:txBody>
          <a:bodyPr anchor="t" rtlCol="false" lIns="0" tIns="59188" rIns="0" bIns="0"/>
          <a:lstStyle/>
          <a:p>
            <a:pPr algn="ctr" lvl="0">
              <a:lnSpc>
                <a:spcPct val="99600"/>
              </a:lnSpc>
            </a:pPr>
            <a:r>
              <a:rPr lang="en-US" sz="4660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과적합과 과소적합 방지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96400" y="8928100"/>
            <a:ext cx="6540500" cy="19304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9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적절한 모델 복잡도 조절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9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데이터에 맞는 학습 수준 설정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9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검증 세트 성능 최적화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4711700"/>
            <a:ext cx="5118100" cy="6908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83400" y="4711700"/>
            <a:ext cx="5118100" cy="6908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65100" y="8128000"/>
            <a:ext cx="5334000" cy="347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06600" y="5448300"/>
            <a:ext cx="889000" cy="889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2006600" y="6997700"/>
            <a:ext cx="38989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794000" y="5435600"/>
            <a:ext cx="30099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175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수동 검색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94000" y="5435600"/>
            <a:ext cx="30099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175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수동 검색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6600" y="7823200"/>
            <a:ext cx="3505200" cy="186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경험 기반 설정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직관적 이해 가능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시간 소모적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4600" y="1460500"/>
            <a:ext cx="93345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튜닝 방법 개요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36800" y="5562600"/>
            <a:ext cx="3810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11" b="false" i="false" u="none" strike="noStrike">
                <a:solidFill>
                  <a:srgbClr val="E9E9F2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7493000" y="7023100"/>
            <a:ext cx="3898900" cy="25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93000" y="7823200"/>
            <a:ext cx="4025900" cy="186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모든 조합 탐색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철저하지만 비효율적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차원의 저주 문제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188200" y="5461000"/>
            <a:ext cx="889000" cy="889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8039100" y="5461000"/>
            <a:ext cx="36449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175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그리드 검색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93000" y="5588000"/>
            <a:ext cx="4318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11" b="false" i="false" u="none" strike="noStrike">
                <a:solidFill>
                  <a:srgbClr val="E9E9F2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84200" y="8674100"/>
            <a:ext cx="32639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42" b="true" i="false" u="none" strike="noStrike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주요 접근 방식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47700" y="9499600"/>
            <a:ext cx="4254500" cy="171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05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수동 검색 : 경험 기반</a:t>
            </a:r>
          </a:p>
          <a:p>
            <a:pPr algn="l" lvl="0">
              <a:lnSpc>
                <a:spcPct val="124499"/>
              </a:lnSpc>
            </a:pPr>
            <a:r>
              <a:rPr lang="en-US" sz="305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그리드/랜덤 검색 : 체게적</a:t>
            </a:r>
          </a:p>
          <a:p>
            <a:pPr algn="l" lvl="0">
              <a:lnSpc>
                <a:spcPct val="124499"/>
              </a:lnSpc>
            </a:pPr>
            <a:r>
              <a:rPr lang="en-US" sz="305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베이지안 최적화 : 효율적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712700" y="1308100"/>
            <a:ext cx="9664700" cy="6311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248400" y="1460500"/>
            <a:ext cx="11887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(1) 수동 검색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5700" y="5092700"/>
            <a:ext cx="6451600" cy="123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3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하이퍼파라미터를 수동으로 조정하며 </a:t>
            </a:r>
          </a:p>
          <a:p>
            <a:pPr algn="l" lvl="0">
              <a:lnSpc>
                <a:spcPct val="124499"/>
              </a:lnSpc>
            </a:pPr>
            <a:r>
              <a:rPr lang="en-US" sz="33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모델 성능을 평가하는 방법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86100" y="4013200"/>
            <a:ext cx="54102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15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Manual Search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03600" y="6680200"/>
            <a:ext cx="4406900" cy="812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57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수동 검색의 특징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21100" y="7632700"/>
            <a:ext cx="5829300" cy="454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010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직관과경험 기반 조정</a:t>
            </a:r>
          </a:p>
          <a:p>
            <a:pPr algn="l" lvl="0">
              <a:lnSpc>
                <a:spcPct val="124499"/>
              </a:lnSpc>
            </a:pPr>
            <a:r>
              <a:rPr lang="en-US" sz="3010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시간 소모적이나 통찰력 제공</a:t>
            </a:r>
          </a:p>
          <a:p>
            <a:pPr algn="l" lvl="0">
              <a:lnSpc>
                <a:spcPct val="124499"/>
              </a:lnSpc>
            </a:pPr>
            <a:r>
              <a:rPr lang="en-US" sz="3010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소규모 프로젝트에 적합</a:t>
            </a:r>
          </a:p>
          <a:p>
            <a:pPr algn="l" lvl="0">
              <a:lnSpc>
                <a:spcPct val="124499"/>
              </a:lnSpc>
            </a:pPr>
            <a:r>
              <a:rPr lang="en-US" sz="3010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전문가의 도메인 지식 활용 가능</a:t>
            </a:r>
          </a:p>
          <a:p>
            <a:pPr algn="l" lvl="0">
              <a:lnSpc>
                <a:spcPct val="124499"/>
              </a:lnSpc>
            </a:pPr>
            <a:r>
              <a:rPr lang="en-US" sz="3010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자동화된 방법의 기초</a:t>
            </a:r>
          </a:p>
          <a:p>
            <a:pPr algn="l" lvl="0">
              <a:lnSpc>
                <a:spcPct val="124499"/>
              </a:lnSpc>
            </a:pPr>
            <a:r>
              <a:rPr lang="en-US" sz="3010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과정에서 모델에 대한 이해 증진</a:t>
            </a:r>
          </a:p>
          <a:p>
            <a:pPr algn="l" lvl="0">
              <a:lnSpc>
                <a:spcPct val="124499"/>
              </a:lnSpc>
            </a:pPr>
            <a:r>
              <a:rPr lang="en-US" sz="3010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특정 상황에서 효과적일 수 있음</a:t>
            </a:r>
          </a:p>
          <a:p>
            <a:pPr algn="l" lvl="0">
              <a:lnSpc>
                <a:spcPct val="124499"/>
              </a:lnSpc>
            </a:pPr>
            <a:r>
              <a:rPr lang="en-US" sz="3010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대규모 탐색에는 비효율적 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50800" y="4089400"/>
            <a:ext cx="6946900" cy="8089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248400" y="1460500"/>
            <a:ext cx="11887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(2) 그리드 검색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2800" y="4546600"/>
            <a:ext cx="56896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15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Grid Search 특징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67000" y="5727700"/>
            <a:ext cx="6451600" cy="563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정의된 범위 내 모든 조합 탐색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철저하고 체계적인 접근 방식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최적 조합을 놓치지 않음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계산 비용이 높음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차원의 저주 문제 발생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병렬화가 용이함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간단한 문제에 적합 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탐색 공간이 적을 때 효과적 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초기 탐색 방법으로 사용 가능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97000" y="4445000"/>
            <a:ext cx="51054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154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Grid Search 구현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97000" y="5626100"/>
            <a:ext cx="6997700" cy="627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파라미터 범위 정의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모든 조합 생성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각 조합에 대해 모델 학습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교차 검증으로 성능 평가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최적 조합 선택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scikit-learn의 GridSearchCV 활용 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병렬 처리로 속도 향상 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결과 시각화 및 분석 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최적 파라미터 적용 및 검증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98000" y="7759700"/>
            <a:ext cx="33020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248400" y="1460500"/>
            <a:ext cx="11887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(3) 랜덤 검색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27400" y="8064500"/>
            <a:ext cx="2235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399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작동 방식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46400" y="9055100"/>
            <a:ext cx="43815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무작위로 파라미터 선택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지정된 분포에서 샘플링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반복 횟수 사전 정의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각 반복마다 새로운 조합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병렬 처리 가능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12400" y="8064500"/>
            <a:ext cx="34544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399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그리드 vs 랜덤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52100" y="9055100"/>
            <a:ext cx="41148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랜덤 : 유연한 탐색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그리드 : 체계적 탐색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랜덤 : 차원 저주 완화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그리드 : 모든 조합 검토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76900" y="8064500"/>
            <a:ext cx="16129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0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효율성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91100" y="9055100"/>
            <a:ext cx="4381500" cy="300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넓은 탐색 공간 커버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중요 파라미터 집중 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계산 자원 효율적 사용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예상치 못한 조합 발견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그리드 대비 빠른 수렴 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계산 효율성 높음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57500" y="4432300"/>
            <a:ext cx="3911600" cy="3263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312400" y="4495800"/>
            <a:ext cx="3746500" cy="3124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094200" y="4572000"/>
            <a:ext cx="46736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248400" y="1460500"/>
            <a:ext cx="11887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(4) 베이지안 최적화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48000" y="5321300"/>
            <a:ext cx="2235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0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기본 원리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9100" y="6438900"/>
            <a:ext cx="4381500" cy="351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이전 평가 활용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순차적 최적화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확률 모델 구축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획득 함수 사용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효율적 탐색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적은 시도로 최적화 가능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복잡한 공간 탐색에 효과적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08900" y="5321300"/>
            <a:ext cx="2235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0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확률 모델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08900" y="6438900"/>
            <a:ext cx="4114800" cy="453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가우시안 프로세스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목적함수 근사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불확실성 모델링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사전 지식 통합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새로운 지점 예측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확률 분포 업데이트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점진적 개선 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노이즈 처리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다차원 입력 처리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68200" y="5295900"/>
            <a:ext cx="2616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0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탐색 - 활용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79300" y="6413500"/>
            <a:ext cx="4381500" cy="453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탐색 : 새 영역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활용 : 유망 영역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균형 유지 중요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획득 함수 조정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UCB 전략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EI 방법론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PI 접근법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동적 전략 변경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문제에 맞는 선택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929100" y="5295900"/>
            <a:ext cx="2235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0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구현 방법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29100" y="6413500"/>
            <a:ext cx="4127500" cy="504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Scikit - Optimize 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GPyOpt 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Optuna 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SMAC3 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Spearmint 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MOE 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BayesianOptimization 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BOHB 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Google Vizier</a:t>
            </a:r>
          </a:p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248400" y="1460500"/>
            <a:ext cx="11887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(5) 진화 알고리즘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72300" y="4876800"/>
            <a:ext cx="11303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0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개념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31500" y="4927600"/>
            <a:ext cx="60706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97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자연 친화 모방한 최적화 기법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72300" y="6311900"/>
            <a:ext cx="11303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0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적용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72300" y="7759700"/>
            <a:ext cx="11303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0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장점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72300" y="9207500"/>
            <a:ext cx="11303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0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단점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13500" y="10617200"/>
            <a:ext cx="22352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0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구현 방법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31500" y="6375400"/>
            <a:ext cx="60706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97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하이퍼파라미터를 유전자로 표현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31500" y="7823200"/>
            <a:ext cx="60706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97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복잡한 공간에서 효과적인 탐색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31500" y="9271000"/>
            <a:ext cx="60706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97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수렴 속도가 느릴 수 있음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31500" y="10680700"/>
            <a:ext cx="73279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697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DEAP, TPOT 등의 라이브러리 활용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756400" y="1460500"/>
            <a:ext cx="108585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대표적 하이퍼파라미터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24100" y="4343400"/>
            <a:ext cx="36830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0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학습률 &amp; 정규화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3300" y="5473700"/>
            <a:ext cx="72390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학습률 : 모델의 학습 속도와 안정성 조절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너무 높으면 발산, 너무 낮으면 느린 학습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정규화 : 과적합 방지, 모델 일반화 능력 향상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L1, L2 정규화와 드롭아웃 등 다양한 기법 존재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73300" y="8331200"/>
            <a:ext cx="49149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0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배치 크기 &amp; 에포크 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73300" y="9436100"/>
            <a:ext cx="72390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배치 크기 : 한 번에 처리할 데이터 양 결정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메모리 사용량과 학습 속도에 영향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에포크 수 : 전체 데이터셋 반복 학습 횟수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과적합과 학습 시간의 균형 고려 필요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960100" y="4229100"/>
            <a:ext cx="11620500" cy="7594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36700" y="4914900"/>
            <a:ext cx="21361400" cy="2908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607300" y="6388100"/>
            <a:ext cx="18415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36700" y="8458200"/>
            <a:ext cx="21361400" cy="2908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607300" y="9931400"/>
            <a:ext cx="1841500" cy="25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095500" y="5981700"/>
            <a:ext cx="5753100" cy="825500"/>
          </a:xfrm>
          <a:prstGeom prst="rect">
            <a:avLst/>
          </a:prstGeom>
        </p:spPr>
        <p:txBody>
          <a:bodyPr anchor="t" rtlCol="false" lIns="0" tIns="59188" rIns="0" bIns="0"/>
          <a:lstStyle/>
          <a:p>
            <a:pPr algn="ctr" lvl="0">
              <a:lnSpc>
                <a:spcPct val="99600"/>
              </a:lnSpc>
            </a:pPr>
            <a:r>
              <a:rPr lang="en-US" sz="4660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학습률의 역할과 중요성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5410200"/>
            <a:ext cx="7861300" cy="19304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9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모델의 가중치 업데이트 속도 결정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9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수렴 속도와 안정성에 직접적 영향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9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최적값 찾기 위한 핵심 파라미터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48400" y="1460500"/>
            <a:ext cx="11887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(1) 학습률 조작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3900" y="9499600"/>
            <a:ext cx="5854700" cy="825500"/>
          </a:xfrm>
          <a:prstGeom prst="rect">
            <a:avLst/>
          </a:prstGeom>
        </p:spPr>
        <p:txBody>
          <a:bodyPr anchor="t" rtlCol="false" lIns="0" tIns="59188" rIns="0" bIns="0"/>
          <a:lstStyle/>
          <a:p>
            <a:pPr algn="ctr" lvl="0">
              <a:lnSpc>
                <a:spcPct val="99600"/>
              </a:lnSpc>
            </a:pPr>
            <a:r>
              <a:rPr lang="en-US" sz="4660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학습률 조정 전략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96400" y="8928100"/>
            <a:ext cx="9639300" cy="19304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9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너무 높으면 : 발산 또는 서브최적 수렴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9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너무 낮으면 : 느린 학습 또는 국소 최적점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999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학습률 스케줄링 : 점진적 감소 전략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36700" y="4914900"/>
            <a:ext cx="9169400" cy="2908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914900" y="6362700"/>
            <a:ext cx="18415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36700" y="8458200"/>
            <a:ext cx="9169400" cy="2908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914900" y="9893300"/>
            <a:ext cx="1841500" cy="25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006600" y="6007100"/>
            <a:ext cx="3505200" cy="762000"/>
          </a:xfrm>
          <a:prstGeom prst="rect">
            <a:avLst/>
          </a:prstGeom>
        </p:spPr>
        <p:txBody>
          <a:bodyPr anchor="t" rtlCol="false" lIns="0" tIns="54108" rIns="0" bIns="0"/>
          <a:lstStyle/>
          <a:p>
            <a:pPr algn="ctr" lvl="0">
              <a:lnSpc>
                <a:spcPct val="99600"/>
              </a:lnSpc>
            </a:pPr>
            <a:r>
              <a:rPr lang="en-US" sz="4260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L1 정규화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13500" y="5638800"/>
            <a:ext cx="3924300" cy="1473200"/>
          </a:xfrm>
          <a:prstGeom prst="rect">
            <a:avLst/>
          </a:prstGeom>
        </p:spPr>
        <p:txBody>
          <a:bodyPr anchor="t" rtlCol="false" lIns="0" tIns="38946" rIns="0" bIns="0"/>
          <a:lstStyle/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희소 모델 생성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특성 선택 효과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불필요한 가중치 제거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13500" y="9194800"/>
            <a:ext cx="3924300" cy="1473200"/>
          </a:xfrm>
          <a:prstGeom prst="rect">
            <a:avLst/>
          </a:prstGeom>
        </p:spPr>
        <p:txBody>
          <a:bodyPr anchor="t" rtlCol="false" lIns="0" tIns="38946" rIns="0" bIns="0"/>
          <a:lstStyle/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가중치 크기 제한 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안정적인 학습</a:t>
            </a:r>
          </a:p>
          <a:p>
            <a:pPr algn="l" lvl="1" indent="-342900" marL="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66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극단적 가중치 방지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8900" y="1460500"/>
            <a:ext cx="99695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(2) 정규화 계수 조작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6600" y="9512300"/>
            <a:ext cx="3505200" cy="762000"/>
          </a:xfrm>
          <a:prstGeom prst="rect">
            <a:avLst/>
          </a:prstGeom>
        </p:spPr>
        <p:txBody>
          <a:bodyPr anchor="t" rtlCol="false" lIns="0" tIns="54108" rIns="0" bIns="0"/>
          <a:lstStyle/>
          <a:p>
            <a:pPr algn="ctr" lvl="0">
              <a:lnSpc>
                <a:spcPct val="99600"/>
              </a:lnSpc>
            </a:pPr>
            <a:r>
              <a:rPr lang="en-US" sz="4260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L2 정규화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15800" y="9017000"/>
            <a:ext cx="3505200" cy="762000"/>
          </a:xfrm>
          <a:prstGeom prst="rect">
            <a:avLst/>
          </a:prstGeom>
        </p:spPr>
        <p:txBody>
          <a:bodyPr anchor="t" rtlCol="false" lIns="0" tIns="54108" rIns="0" bIns="0"/>
          <a:lstStyle/>
          <a:p>
            <a:pPr algn="ctr" lvl="0">
              <a:lnSpc>
                <a:spcPct val="99600"/>
              </a:lnSpc>
            </a:pPr>
            <a:r>
              <a:rPr lang="en-US" sz="4260" b="tru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정규화의 목적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07900" y="10045700"/>
            <a:ext cx="4953000" cy="1473200"/>
          </a:xfrm>
          <a:prstGeom prst="rect">
            <a:avLst/>
          </a:prstGeom>
        </p:spPr>
        <p:txBody>
          <a:bodyPr anchor="t" rtlCol="false" lIns="0" tIns="38946" rIns="0" bIns="0"/>
          <a:lstStyle/>
          <a:p>
            <a:pPr algn="l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- 과적합 방지</a:t>
            </a:r>
          </a:p>
          <a:p>
            <a:pPr algn="l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- 모델의 일반화 능력 향상 </a:t>
            </a:r>
          </a:p>
          <a:p>
            <a:pPr algn="l" lvl="0">
              <a:lnSpc>
                <a:spcPct val="99600"/>
              </a:lnSpc>
            </a:pPr>
            <a:r>
              <a:rPr lang="en-US" sz="3066" b="false" i="false" u="none" strike="noStrike">
                <a:solidFill>
                  <a:srgbClr val="636573"/>
                </a:solidFill>
                <a:latin typeface="Pretendard SemiBold"/>
                <a:ea typeface="Pretendard SemiBold"/>
                <a:cs typeface="Pretendard SemiBold"/>
              </a:rPr>
              <a:t>- 학습 데이터 노이즈 영향 감소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407900" y="1460500"/>
            <a:ext cx="101473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248400" y="1460500"/>
            <a:ext cx="11887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(3) 배치 크기 최적화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27700" y="8547100"/>
            <a:ext cx="38100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0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배치 크기의 영향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27700" y="9537700"/>
            <a:ext cx="4902200" cy="199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학습 속도와 메모리 사용량 조절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일반화 성능에 영향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최적화 알고리즘 동작 변화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병렬 처리 효율성 결정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22300" y="8547100"/>
            <a:ext cx="44196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00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배치 크기 선택 전략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22300" y="9537700"/>
            <a:ext cx="61468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작은 배치 : 더 나은 일반화, 느린 학습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큰 배치 : 빠른 학습, 메모리 부담 증가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점진적으로 배치 크기 증가를 시도해야 함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모델 성능과 학습 시간 균형 조절 필요</a:t>
            </a:r>
          </a:p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데이터셋 크기에 따른 조정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518400" y="4140200"/>
            <a:ext cx="935990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248400" y="1460500"/>
            <a:ext cx="11887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(4) 에포크 수 결정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60600" y="5994400"/>
            <a:ext cx="74549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15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충분한 학습과 과적합 방지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44800" y="7175500"/>
            <a:ext cx="6451600" cy="311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-충분한 학습을 위한 에포크 수 결정 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과적합방지를 위한 전략 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데이터셋 크기와 모델 복잡도 고려 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검증 세트 성능 모니터링 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학습 곡선을 통한 진행 상황 분석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7500" y="5994400"/>
            <a:ext cx="57404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154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조기 종료와 학습 곡선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0" y="7073900"/>
            <a:ext cx="7010400" cy="311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조기 종료 (Early Stopping) 기법 활용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검증 손실이 개선되지 않을 때 학습 중단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학습 곡선 분석으로 최적 에포크 수 파악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과적합과 과소적합 사이의 균형 찾기 </a:t>
            </a:r>
          </a:p>
          <a:p>
            <a:pPr algn="l" lvl="0">
              <a:lnSpc>
                <a:spcPct val="124499"/>
              </a:lnSpc>
            </a:pPr>
            <a:r>
              <a:rPr lang="en-US" sz="3314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모델 일반화 능력 향상을 위한 전략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083800" y="8331200"/>
            <a:ext cx="33020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7465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87600" y="4305300"/>
            <a:ext cx="9626600" cy="3657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09600" y="5295900"/>
            <a:ext cx="1689100" cy="168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87600" y="8356600"/>
            <a:ext cx="9626600" cy="365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69800" y="8356600"/>
            <a:ext cx="9626600" cy="3657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563600" y="5549900"/>
            <a:ext cx="1168400" cy="1168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69800" y="4305300"/>
            <a:ext cx="9626600" cy="36576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829300" y="4686300"/>
            <a:ext cx="6108700" cy="308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과적합 위험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모델 복잡성 증가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실제 성능 저하 가능성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시간 소모적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최적점 고착 위험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22600" y="5867400"/>
            <a:ext cx="2679700" cy="736600"/>
          </a:xfrm>
          <a:prstGeom prst="rect">
            <a:avLst/>
          </a:prstGeom>
        </p:spPr>
        <p:txBody>
          <a:bodyPr anchor="t" rtlCol="false" lIns="0" tIns="54788" rIns="0" bIns="0"/>
          <a:lstStyle/>
          <a:p>
            <a:pPr algn="l" lvl="0">
              <a:lnSpc>
                <a:spcPct val="98770"/>
              </a:lnSpc>
            </a:pPr>
            <a:r>
              <a:rPr lang="en-US" sz="4108" b="false" i="false" u="none" strike="noStrike" spc="-200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과도한 튜닝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09900" y="4686300"/>
            <a:ext cx="6121400" cy="308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특정 데이터에 과적합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새로운 데이터 성능 저하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모델 견고성 감소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극단적 상황 대응력 약화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편향 위험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41300" y="5867400"/>
            <a:ext cx="2679700" cy="736600"/>
          </a:xfrm>
          <a:prstGeom prst="rect">
            <a:avLst/>
          </a:prstGeom>
        </p:spPr>
        <p:txBody>
          <a:bodyPr anchor="t" rtlCol="false" lIns="0" tIns="54788" rIns="0" bIns="0"/>
          <a:lstStyle/>
          <a:p>
            <a:pPr algn="l" lvl="0">
              <a:lnSpc>
                <a:spcPct val="98770"/>
              </a:lnSpc>
            </a:pPr>
            <a:r>
              <a:rPr lang="en-US" sz="4108" b="false" i="false" u="none" strike="noStrike" spc="-200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일반화 저하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29300" y="8686800"/>
            <a:ext cx="6108700" cy="308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높은 컴퓨팅 자원 요구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긴 실행 시간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에너지 소비 증가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클라우드 비용 상승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실시간 응용 제한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02000" y="9867900"/>
            <a:ext cx="2108200" cy="736600"/>
          </a:xfrm>
          <a:prstGeom prst="rect">
            <a:avLst/>
          </a:prstGeom>
        </p:spPr>
        <p:txBody>
          <a:bodyPr anchor="t" rtlCol="false" lIns="0" tIns="54788" rIns="0" bIns="0"/>
          <a:lstStyle/>
          <a:p>
            <a:pPr algn="l" lvl="0">
              <a:lnSpc>
                <a:spcPct val="98770"/>
              </a:lnSpc>
            </a:pPr>
            <a:r>
              <a:rPr lang="en-US" sz="4108" b="false" i="false" u="none" strike="noStrike" spc="-200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계산 비용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09900" y="9004300"/>
            <a:ext cx="6121400" cy="245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의사결정 근거 불명확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모델 신뢰성 저하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규제 준수 어려움 </a:t>
            </a:r>
          </a:p>
          <a:p>
            <a:pPr algn="l" lvl="0">
              <a:lnSpc>
                <a:spcPct val="124499"/>
              </a:lnSpc>
            </a:pPr>
            <a:r>
              <a:rPr lang="en-US" sz="3278" b="false" i="false" u="none" strike="noStrike" cap="all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- 직관적 이해 어려움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54000" y="9867900"/>
            <a:ext cx="2552700" cy="736600"/>
          </a:xfrm>
          <a:prstGeom prst="rect">
            <a:avLst/>
          </a:prstGeom>
        </p:spPr>
        <p:txBody>
          <a:bodyPr anchor="t" rtlCol="false" lIns="0" tIns="54788" rIns="0" bIns="0"/>
          <a:lstStyle/>
          <a:p>
            <a:pPr algn="l" lvl="0">
              <a:lnSpc>
                <a:spcPct val="98770"/>
              </a:lnSpc>
            </a:pPr>
            <a:r>
              <a:rPr lang="en-US" sz="4108" b="false" i="false" u="none" strike="noStrike" spc="-200">
                <a:solidFill>
                  <a:srgbClr val="7180CB"/>
                </a:solidFill>
                <a:latin typeface="Pretendard SemiBold"/>
                <a:ea typeface="Pretendard SemiBold"/>
                <a:cs typeface="Pretendard SemiBold"/>
              </a:rPr>
              <a:t>해석 어려움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21000" y="1460500"/>
            <a:ext cx="185293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하이퍼파라미터 튜닝 한계와 주의점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628100" y="12763500"/>
            <a:ext cx="1600200" cy="3556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r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11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14500" y="12738100"/>
            <a:ext cx="4191000" cy="3556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l" lvl="0">
              <a:lnSpc>
                <a:spcPct val="83000"/>
              </a:lnSpc>
            </a:pPr>
            <a:r>
              <a:rPr lang="en-US" sz="1999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MIRI CITY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44600" y="12788900"/>
            <a:ext cx="355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235700" y="1308100"/>
            <a:ext cx="119126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머신러닝 개념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0300" y="3873500"/>
            <a:ext cx="226060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4933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인공지능 ⊃ 머신러닝 ⊃ 딥러닝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71700" y="6731000"/>
            <a:ext cx="8940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6F6FE"/>
                </a:solidFill>
                <a:latin typeface="Pretendard Regular"/>
                <a:ea typeface="Pretendard Regular"/>
                <a:cs typeface="Pretendard Regular"/>
              </a:rPr>
              <a:t>비교 이전의 상황을 입력해 주세요.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254500" y="5029200"/>
            <a:ext cx="17056100" cy="42799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841500" y="9575800"/>
            <a:ext cx="241427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4985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머신러닝과 딥러닝의 차이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41500" y="10629900"/>
            <a:ext cx="24117300" cy="157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4130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머신러닝은 사람이 직접 모델에 넣을 특징(feature)을 추출하는 방식,</a:t>
            </a:r>
          </a:p>
          <a:p>
            <a:pPr algn="l" lvl="0">
              <a:lnSpc>
                <a:spcPct val="132800"/>
              </a:lnSpc>
            </a:pPr>
            <a:r>
              <a:rPr lang="en-US" sz="4130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딥러닝은 스스로 특징을 뽑아내는 방식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9918700" y="5461000"/>
            <a:ext cx="198501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  <a:r>
              <a:rPr lang="en-US" sz="5600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 지도 학습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74900" y="3949700"/>
            <a:ext cx="226822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6266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훈련 지도 방식에 따라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18700" y="8039100"/>
            <a:ext cx="198501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03</a:t>
            </a:r>
            <a:r>
              <a:rPr lang="en-US" sz="5600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 강화 학습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18700" y="6781800"/>
            <a:ext cx="198501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  <a:r>
              <a:rPr lang="en-US" sz="5600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 비지도 학습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18700" y="9359900"/>
            <a:ext cx="198501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04</a:t>
            </a:r>
            <a:r>
              <a:rPr lang="en-US" sz="5600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 준지도 학습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18700" y="10617200"/>
            <a:ext cx="198501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0" b="false" i="false" u="none" strike="noStrike">
                <a:solidFill>
                  <a:srgbClr val="7180CB"/>
                </a:solidFill>
                <a:latin typeface="Pretendard Regular"/>
                <a:ea typeface="Pretendard Regular"/>
                <a:cs typeface="Pretendard Regular"/>
              </a:rPr>
              <a:t>05</a:t>
            </a:r>
            <a:r>
              <a:rPr lang="en-US" sz="5600" b="false" i="false" u="none" strike="noStrike">
                <a:solidFill>
                  <a:srgbClr val="636573"/>
                </a:solidFill>
                <a:latin typeface="Pretendard Regular"/>
                <a:ea typeface="Pretendard Regular"/>
                <a:cs typeface="Pretendard Regular"/>
              </a:rPr>
              <a:t> 자기 지도 학습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6235700" y="1308100"/>
            <a:ext cx="119126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머신러닝 종류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30300" y="3644900"/>
            <a:ext cx="22606000" cy="168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4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라벨이 있는 데이터를 사용해서 정답을 맞히는 학습 방식. </a:t>
            </a:r>
          </a:p>
          <a:p>
            <a:pPr algn="ctr" lvl="0">
              <a:lnSpc>
                <a:spcPct val="120350"/>
              </a:lnSpc>
            </a:pPr>
            <a:r>
              <a:rPr lang="en-US" sz="4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주로 분류, 회귀 문제에 사용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84800" y="5575300"/>
            <a:ext cx="14084300" cy="668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6235700" y="1308100"/>
            <a:ext cx="119126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01</a:t>
            </a: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 지도 학습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30300" y="3683000"/>
            <a:ext cx="22606000" cy="168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4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앙상블 기법</a:t>
            </a:r>
          </a:p>
          <a:p>
            <a:pPr algn="ctr" lvl="0">
              <a:lnSpc>
                <a:spcPct val="120350"/>
              </a:lnSpc>
            </a:pPr>
            <a:r>
              <a:rPr lang="en-US" sz="4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: 여러 모델의 예측 결과를 결합하는 기법으로 주로 지도학습에서 사용됨.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121400" y="5829300"/>
            <a:ext cx="12560300" cy="6070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6223000" y="1308100"/>
            <a:ext cx="119380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01</a:t>
            </a: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 지도 학습 </a:t>
            </a:r>
            <a:r>
              <a:rPr lang="en-US" sz="6931" b="false" i="false" u="none" strike="noStrike">
                <a:solidFill>
                  <a:srgbClr val="23294A"/>
                </a:solidFill>
                <a:latin typeface="Pretendard Medium"/>
                <a:ea typeface="Pretendard Medium"/>
                <a:cs typeface="Pretendard Medium"/>
              </a:rPr>
              <a:t>- 사전지식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598400" y="3670300"/>
            <a:ext cx="10591800" cy="292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&lt;부스팅&gt;</a:t>
            </a:r>
          </a:p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약한 학습기를 순차적으로 학습시키며,</a:t>
            </a:r>
          </a:p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이전 모델이 틀린 예측에 가중치를</a:t>
            </a:r>
          </a:p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부여하여 오류를 개선해나가는 학습 방식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27300" y="6870700"/>
            <a:ext cx="5486400" cy="525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6223000" y="1308100"/>
            <a:ext cx="119380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01</a:t>
            </a: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 지도 학습 </a:t>
            </a:r>
            <a:r>
              <a:rPr lang="en-US" sz="6931" b="false" i="false" u="none" strike="noStrike">
                <a:solidFill>
                  <a:srgbClr val="23294A"/>
                </a:solidFill>
                <a:latin typeface="Pretendard Medium"/>
                <a:ea typeface="Pretendard Medium"/>
                <a:cs typeface="Pretendard Medium"/>
              </a:rPr>
              <a:t>- 사전지식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1100" y="5308600"/>
            <a:ext cx="12242800" cy="6184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543300" y="3619500"/>
            <a:ext cx="18694400" cy="1447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스태킹(Stacking)</a:t>
            </a:r>
          </a:p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: 여러 개의 서로 다른 모델의 예측값을 다시 하나의 모델이 종합해서 최종 예측을 하는 방식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518400" y="5461000"/>
            <a:ext cx="11226800" cy="4584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543300" y="10299700"/>
            <a:ext cx="18694400" cy="218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구성: 개별 기반 모델들 + 최종 메타 모델</a:t>
            </a:r>
          </a:p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교차검증 기반으로 Base Model 학습</a:t>
            </a:r>
          </a:p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각 모델마다의 예측값들을 세로로 붙여서 feature vector 생성(세로운 데이터셋)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223000" y="1308100"/>
            <a:ext cx="119380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01</a:t>
            </a: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 지도 학습 </a:t>
            </a:r>
            <a:r>
              <a:rPr lang="en-US" sz="6931" b="false" i="false" u="none" strike="noStrike">
                <a:solidFill>
                  <a:srgbClr val="23294A"/>
                </a:solidFill>
                <a:latin typeface="Pretendard Medium"/>
                <a:ea typeface="Pretendard Medium"/>
                <a:cs typeface="Pretendard Medium"/>
              </a:rPr>
              <a:t>- 사전지식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082800" y="9436100"/>
            <a:ext cx="5156200" cy="238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4384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균형 트리 분할 방식</a:t>
            </a:r>
          </a:p>
          <a:p>
            <a:pPr algn="ctr" lvl="0">
              <a:lnSpc>
                <a:spcPct val="120350"/>
              </a:lnSpc>
            </a:pPr>
            <a:r>
              <a:rPr lang="en-US" sz="4384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ctr" lvl="0">
              <a:lnSpc>
                <a:spcPct val="120350"/>
              </a:lnSpc>
            </a:pPr>
            <a:r>
              <a:rPr lang="en-US" sz="4384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81200" y="1308100"/>
            <a:ext cx="215900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01</a:t>
            </a: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 지도 학습 </a:t>
            </a:r>
            <a:r>
              <a:rPr lang="en-US" sz="5998" b="false" i="false" u="none" strike="noStrike">
                <a:solidFill>
                  <a:srgbClr val="23294A"/>
                </a:solidFill>
                <a:latin typeface="Pretendard Medium"/>
                <a:ea typeface="Pretendard Medium"/>
                <a:cs typeface="Pretendard Medium"/>
              </a:rPr>
              <a:t>- XGBoost, LightGBM, Catboost 구조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87500" y="3898900"/>
            <a:ext cx="20116800" cy="54864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8915400" y="9601200"/>
            <a:ext cx="61468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4384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리프 중심 트리 분할 방식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16300" y="9601200"/>
            <a:ext cx="74422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384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균형 트리 + 리프 중심 트리 방식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4800" y="10541000"/>
            <a:ext cx="8724900" cy="1447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과적합 방지에 강한 구조</a:t>
            </a:r>
          </a:p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but, 불필요한 노드 → 학습시간↑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35900" y="10553700"/>
            <a:ext cx="8724900" cy="1447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높은 정확도</a:t>
            </a:r>
          </a:p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but, 과적합 위험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981200" y="1308100"/>
            <a:ext cx="215900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01</a:t>
            </a: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 지도 학습 </a:t>
            </a:r>
            <a:r>
              <a:rPr lang="en-US" sz="5998" b="false" i="false" u="none" strike="noStrike">
                <a:solidFill>
                  <a:srgbClr val="23294A"/>
                </a:solidFill>
                <a:latin typeface="Pretendard Medium"/>
                <a:ea typeface="Pretendard Medium"/>
                <a:cs typeface="Pretendard Medium"/>
              </a:rPr>
              <a:t>- XGBoost, LightGBM, Catboost 구조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60700" y="4076700"/>
            <a:ext cx="18262600" cy="7645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30300" y="3695700"/>
            <a:ext cx="226060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46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데이터를 K개의 군집으로 나누는 군집화 알고리즘 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800600" y="1308100"/>
            <a:ext cx="14681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02</a:t>
            </a: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 비지도 학습 </a:t>
            </a:r>
            <a:r>
              <a:rPr lang="en-US" sz="7198" b="false" i="false" u="none" strike="noStrike">
                <a:solidFill>
                  <a:srgbClr val="23294A"/>
                </a:solidFill>
                <a:latin typeface="Pretendard Medium"/>
                <a:ea typeface="Pretendard Medium"/>
                <a:cs typeface="Pretendard Medium"/>
              </a:rPr>
              <a:t>- K-Means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97100" y="4991100"/>
            <a:ext cx="9994900" cy="7378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1366500" y="7137400"/>
            <a:ext cx="12395200" cy="424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1" indent="-342900" marL="342900">
              <a:lnSpc>
                <a:spcPct val="120350"/>
              </a:lnSpc>
              <a:buAutoNum type="arabicPeriod" startAt="1"/>
            </a:pPr>
            <a:r>
              <a:rPr lang="en-US" sz="38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데이터를 K개의 군집으로 나누기 위해</a:t>
            </a:r>
          </a:p>
          <a:p>
            <a:pPr algn="ctr" lvl="0">
              <a:lnSpc>
                <a:spcPct val="120350"/>
              </a:lnSpc>
            </a:pPr>
            <a:r>
              <a:rPr lang="en-US" sz="38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K개의 중심점을 무작위로 설정</a:t>
            </a:r>
          </a:p>
          <a:p>
            <a:pPr algn="ctr" lvl="0">
              <a:lnSpc>
                <a:spcPct val="120350"/>
              </a:lnSpc>
            </a:pPr>
            <a:r>
              <a:rPr lang="en-US" sz="38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2. 각 데이터 포인트를 가장 가까운 중심점에 할당</a:t>
            </a:r>
          </a:p>
          <a:p>
            <a:pPr algn="ctr" lvl="0">
              <a:lnSpc>
                <a:spcPct val="120350"/>
              </a:lnSpc>
            </a:pPr>
            <a:r>
              <a:rPr lang="en-US" sz="38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3. 할당된 데이터 포인트들의 평균을</a:t>
            </a:r>
          </a:p>
          <a:p>
            <a:pPr algn="ctr" lvl="0">
              <a:lnSpc>
                <a:spcPct val="120350"/>
              </a:lnSpc>
            </a:pPr>
            <a:r>
              <a:rPr lang="en-US" sz="38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계산하여 새로운 중심점을 설정</a:t>
            </a:r>
          </a:p>
          <a:p>
            <a:pPr algn="ctr" lvl="0">
              <a:lnSpc>
                <a:spcPct val="120350"/>
              </a:lnSpc>
            </a:pPr>
            <a:r>
              <a:rPr lang="en-US" sz="38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4. 중심점이 변화하지 않을 때까지 2~3 과정을 반복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55700" y="6159500"/>
            <a:ext cx="74295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4666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&lt;동작 과정&gt;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43000" y="3556000"/>
            <a:ext cx="13157200" cy="292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고차원 데이터를 저차원으로 줄이는 차원 축소 기법.</a:t>
            </a:r>
          </a:p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여러 변수 간 상관관계를 이용해 주성분을 추출하면서</a:t>
            </a:r>
          </a:p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불필요한 특성(중복, 노이즈 등)을 제거</a:t>
            </a:r>
          </a:p>
          <a:p>
            <a:pPr algn="ctr" lvl="0">
              <a:lnSpc>
                <a:spcPct val="120350"/>
              </a:lnSpc>
            </a:pPr>
            <a:r>
              <a:rPr lang="en-US" sz="3999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→ 데이터의 분산을 가장 잘 표현할 수 있는 저차원을 찾아내는 것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800600" y="1308100"/>
            <a:ext cx="14681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02</a:t>
            </a: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 비지도 학습 </a:t>
            </a:r>
            <a:r>
              <a:rPr lang="en-US" sz="7198" b="false" i="false" u="none" strike="noStrike">
                <a:solidFill>
                  <a:srgbClr val="23294A"/>
                </a:solidFill>
                <a:latin typeface="Pretendard Medium"/>
                <a:ea typeface="Pretendard Medium"/>
                <a:cs typeface="Pretendard Medium"/>
              </a:rPr>
              <a:t>- PCA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3900" y="6731000"/>
            <a:ext cx="9461500" cy="353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38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첫 번째 주성분</a:t>
            </a:r>
          </a:p>
          <a:p>
            <a:pPr algn="ctr" lvl="0">
              <a:lnSpc>
                <a:spcPct val="120350"/>
              </a:lnSpc>
            </a:pPr>
            <a:r>
              <a:rPr lang="en-US" sz="38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: 데이터의 분산을 가장 많이 설명하는 축</a:t>
            </a:r>
          </a:p>
          <a:p>
            <a:pPr algn="ctr" lvl="0">
              <a:lnSpc>
                <a:spcPct val="120350"/>
              </a:lnSpc>
            </a:pPr>
            <a:r>
              <a:rPr lang="en-US" sz="38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- 두 번째 주성분</a:t>
            </a:r>
          </a:p>
          <a:p>
            <a:pPr algn="ctr" lvl="0">
              <a:lnSpc>
                <a:spcPct val="120350"/>
              </a:lnSpc>
            </a:pPr>
            <a:r>
              <a:rPr lang="en-US" sz="38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: 첫 번째 주성분과 직교하면서 데이터의 분산을 두 번째로 많이 설명하는 축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28800" y="6756400"/>
            <a:ext cx="5194300" cy="415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607300" y="6896100"/>
            <a:ext cx="5257800" cy="4483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981700" y="8343900"/>
            <a:ext cx="20955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6062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→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3700" y="11112500"/>
            <a:ext cx="11430000" cy="1397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3866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분산이 최대로 보존되도록 PC1과 PC2 축을 회전시킨 뒤, PC2 축을 제거하고 1차원 평면에 데이터 투영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384800" y="3695700"/>
            <a:ext cx="131699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41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에이전트(학습하는 시스템)가 환경과 상호작용하면서</a:t>
            </a:r>
          </a:p>
          <a:p>
            <a:pPr algn="ctr" lvl="0">
              <a:lnSpc>
                <a:spcPct val="120350"/>
              </a:lnSpc>
            </a:pPr>
            <a:r>
              <a:rPr lang="en-US" sz="41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그 결과로 보상을 최대화하는 방향으로 행동을 학습하는 방법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800600" y="1308100"/>
            <a:ext cx="14681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03</a:t>
            </a: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 강화 학습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03900" y="5753100"/>
            <a:ext cx="12763500" cy="6045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800600" y="1308100"/>
            <a:ext cx="14681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03</a:t>
            </a: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 강화 학습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965700" y="3822700"/>
            <a:ext cx="15278100" cy="8153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800600" y="1308100"/>
            <a:ext cx="14681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04</a:t>
            </a: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 준지도 학습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184900" y="5270500"/>
            <a:ext cx="12661900" cy="7086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987800" y="3695700"/>
            <a:ext cx="163957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41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소량의 라벨된 데이터와 다량의 라벨 없는 데이터를 활용하여 학습하는 방법.</a:t>
            </a:r>
          </a:p>
          <a:p>
            <a:pPr algn="ctr" lvl="0">
              <a:lnSpc>
                <a:spcPct val="120350"/>
              </a:lnSpc>
            </a:pPr>
            <a:r>
              <a:rPr lang="en-US" sz="41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지도 학습과 비지도 학습의 조합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800600" y="1308100"/>
            <a:ext cx="14681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05</a:t>
            </a: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 자기 지도 학습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87800" y="3479800"/>
            <a:ext cx="16941800" cy="226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41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레이블이 전혀 없어도 데이터 일부를 가려서 스스로 라벨을 만들어 학습하는 방법. 지도학습과 비지도 학습의 중간 형태.</a:t>
            </a:r>
          </a:p>
          <a:p>
            <a:pPr algn="ctr" lvl="0">
              <a:lnSpc>
                <a:spcPct val="120350"/>
              </a:lnSpc>
            </a:pPr>
            <a:r>
              <a:rPr lang="en-US" sz="41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인공 신경망 같은 인공지능 모델 기반.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00800" y="5727700"/>
            <a:ext cx="4114800" cy="563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995400" y="5816600"/>
            <a:ext cx="4140200" cy="55753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0363200" y="7670800"/>
            <a:ext cx="3543300" cy="133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7466" b="tru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→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87800" y="11595100"/>
            <a:ext cx="169418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0350"/>
              </a:lnSpc>
            </a:pPr>
            <a:r>
              <a:rPr lang="en-US" sz="4133" b="false" i="false" u="none" strike="noStrike">
                <a:solidFill>
                  <a:srgbClr val="23294A"/>
                </a:solidFill>
                <a:latin typeface="Pretendard Regular"/>
                <a:ea typeface="Pretendard Regular"/>
                <a:cs typeface="Pretendard Regular"/>
              </a:rPr>
              <a:t>↑ 입력(왼쪽)과 타깃(오른쪽)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800600" y="1308100"/>
            <a:ext cx="14681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7180CB"/>
                </a:solidFill>
                <a:latin typeface="Pretendard Bold"/>
                <a:ea typeface="Pretendard Bold"/>
                <a:cs typeface="Pretendard Bold"/>
              </a:rPr>
              <a:t>05</a:t>
            </a:r>
            <a:r>
              <a:rPr lang="en-US" sz="9065" b="false" i="false" u="none" strike="noStrike">
                <a:solidFill>
                  <a:srgbClr val="23294A"/>
                </a:solidFill>
                <a:latin typeface="Pretendard Bold"/>
                <a:ea typeface="Pretendard Bold"/>
                <a:cs typeface="Pretendard Bold"/>
              </a:rPr>
              <a:t> 자기 지도 학습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98800" y="5067300"/>
            <a:ext cx="18084800" cy="5283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124968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23622000" cy="40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4252">
            <a:off x="990600" y="3251200"/>
            <a:ext cx="224028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800600" y="1308100"/>
            <a:ext cx="14681200" cy="1612900"/>
          </a:xfrm>
          <a:prstGeom prst="rect">
            <a:avLst/>
          </a:prstGeom>
        </p:spPr>
        <p:txBody>
          <a:bodyPr anchor="t" rtlCol="false" lIns="0" tIns="92101" rIns="0" bIns="0"/>
          <a:lstStyle/>
          <a:p>
            <a:pPr algn="ctr" lvl="0">
              <a:lnSpc>
                <a:spcPct val="102919"/>
              </a:lnSpc>
            </a:pPr>
            <a:r>
              <a:rPr lang="en-US" sz="906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머신러닝 알고리즘 선택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59300" y="4178300"/>
            <a:ext cx="15163800" cy="7429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180C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23622000" cy="1295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0600" y="1054100"/>
            <a:ext cx="224028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12611100"/>
            <a:ext cx="23622000" cy="73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216400" y="5397500"/>
            <a:ext cx="15938500" cy="289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266" b="false" i="false" u="none" strike="noStrike">
                <a:solidFill>
                  <a:srgbClr val="23294A"/>
                </a:solidFill>
                <a:latin typeface="Pretendard SemiBold"/>
                <a:ea typeface="Pretendard SemiBold"/>
                <a:cs typeface="Pretendard Semi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